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Times New Roman MT" panose="020B0604020202020204" charset="0"/>
      <p:regular r:id="rId14"/>
    </p:embeddedFont>
    <p:embeddedFont>
      <p:font typeface="Times New Roman MT Bold" panose="020B0604020202020204" charset="0"/>
      <p:regular r:id="rId15"/>
    </p:embeddedFont>
    <p:embeddedFont>
      <p:font typeface="Times New Roman MT Medium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eren Khan" userId="bb8e79c4-c63e-46f4-9c07-31c42ea0f990" providerId="ADAL" clId="{31F10818-C8B0-492F-B285-10779C1C3354}"/>
    <pc:docChg chg="modSld">
      <pc:chgData name="Shieren Khan" userId="bb8e79c4-c63e-46f4-9c07-31c42ea0f990" providerId="ADAL" clId="{31F10818-C8B0-492F-B285-10779C1C3354}" dt="2026-10-06T18:08:35.494" v="14" actId="14100"/>
      <pc:docMkLst>
        <pc:docMk/>
      </pc:docMkLst>
      <pc:sldChg chg="modSp mod">
        <pc:chgData name="Shieren Khan" userId="bb8e79c4-c63e-46f4-9c07-31c42ea0f990" providerId="ADAL" clId="{31F10818-C8B0-492F-B285-10779C1C3354}" dt="2026-10-06T18:08:00.737" v="13" actId="20577"/>
        <pc:sldMkLst>
          <pc:docMk/>
          <pc:sldMk cId="0" sldId="256"/>
        </pc:sldMkLst>
        <pc:spChg chg="mod">
          <ac:chgData name="Shieren Khan" userId="bb8e79c4-c63e-46f4-9c07-31c42ea0f990" providerId="ADAL" clId="{31F10818-C8B0-492F-B285-10779C1C3354}" dt="2026-10-06T18:08:00.737" v="13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hieren Khan" userId="bb8e79c4-c63e-46f4-9c07-31c42ea0f990" providerId="ADAL" clId="{31F10818-C8B0-492F-B285-10779C1C3354}" dt="2026-10-06T18:08:35.494" v="14" actId="14100"/>
        <pc:sldMkLst>
          <pc:docMk/>
          <pc:sldMk cId="0" sldId="259"/>
        </pc:sldMkLst>
        <pc:grpChg chg="mod">
          <ac:chgData name="Shieren Khan" userId="bb8e79c4-c63e-46f4-9c07-31c42ea0f990" providerId="ADAL" clId="{31F10818-C8B0-492F-B285-10779C1C3354}" dt="2026-10-06T18:08:35.494" v="14" actId="14100"/>
          <ac:grpSpMkLst>
            <pc:docMk/>
            <pc:sldMk cId="0" sldId="259"/>
            <ac:grpSpMk id="71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91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837504" y="395097"/>
            <a:ext cx="4978896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29"/>
              </a:lnSpc>
            </a:pPr>
            <a:r>
              <a:rPr lang="en-US" sz="90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GreenOps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37260" y="891540"/>
            <a:ext cx="2953493" cy="740664"/>
            <a:chOff x="0" y="0"/>
            <a:chExt cx="3937991" cy="9875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38016" cy="987552"/>
            </a:xfrm>
            <a:custGeom>
              <a:avLst/>
              <a:gdLst/>
              <a:ahLst/>
              <a:cxnLst/>
              <a:rect l="l" t="t" r="r" b="b"/>
              <a:pathLst>
                <a:path w="3938016" h="987552">
                  <a:moveTo>
                    <a:pt x="0" y="0"/>
                  </a:moveTo>
                  <a:lnTo>
                    <a:pt x="3938016" y="0"/>
                  </a:lnTo>
                  <a:lnTo>
                    <a:pt x="3938016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 descr="$PPTXTitle"/>
          <p:cNvSpPr txBox="1"/>
          <p:nvPr/>
        </p:nvSpPr>
        <p:spPr>
          <a:xfrm>
            <a:off x="-1446369" y="1900047"/>
            <a:ext cx="21546642" cy="49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2918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AI agent that finds, explains, fixes and measures technology waste, and accounts for its own footprint.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24390" y="2882751"/>
            <a:ext cx="15156490" cy="6962757"/>
            <a:chOff x="0" y="0"/>
            <a:chExt cx="3991833" cy="18338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91833" cy="1833812"/>
            </a:xfrm>
            <a:custGeom>
              <a:avLst/>
              <a:gdLst/>
              <a:ahLst/>
              <a:cxnLst/>
              <a:rect l="l" t="t" r="r" b="b"/>
              <a:pathLst>
                <a:path w="3991833" h="1833812">
                  <a:moveTo>
                    <a:pt x="0" y="0"/>
                  </a:moveTo>
                  <a:lnTo>
                    <a:pt x="3991833" y="0"/>
                  </a:lnTo>
                  <a:lnTo>
                    <a:pt x="3991833" y="1833812"/>
                  </a:lnTo>
                  <a:lnTo>
                    <a:pt x="0" y="1833812"/>
                  </a:lnTo>
                  <a:close/>
                </a:path>
              </a:pathLst>
            </a:custGeom>
            <a:solidFill>
              <a:srgbClr val="3A1F82">
                <a:alpha val="55686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991833" cy="1871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28374" y="5265925"/>
            <a:ext cx="12540887" cy="4301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: Ctrl Alt Elite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3499" b="1" dirty="0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Presenter names : Shieren Khan, Nikhil Yadav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3499" b="1" dirty="0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Event : Prompt, Plan, Preserve: Hacking Sustainability with Agentic AI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3499" b="1" dirty="0">
              <a:solidFill>
                <a:srgbClr val="FFFFFF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29479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84315" y="1213466"/>
            <a:ext cx="17555527" cy="8676322"/>
            <a:chOff x="0" y="0"/>
            <a:chExt cx="23407370" cy="115684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06608" cy="11567160"/>
            </a:xfrm>
            <a:custGeom>
              <a:avLst/>
              <a:gdLst/>
              <a:ahLst/>
              <a:cxnLst/>
              <a:rect l="l" t="t" r="r" b="b"/>
              <a:pathLst>
                <a:path w="23406608" h="11567160">
                  <a:moveTo>
                    <a:pt x="23406608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406608" y="11567160"/>
                  </a:lnTo>
                  <a:lnTo>
                    <a:pt x="2340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 descr="$PPTXTitle"/>
          <p:cNvSpPr txBox="1"/>
          <p:nvPr/>
        </p:nvSpPr>
        <p:spPr>
          <a:xfrm>
            <a:off x="1190400" y="1529579"/>
            <a:ext cx="15499080" cy="92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8"/>
              </a:lnSpc>
            </a:pPr>
            <a:r>
              <a:rPr lang="en-US" sz="55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addressed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254728" y="397764"/>
            <a:ext cx="649224" cy="530352"/>
            <a:chOff x="0" y="0"/>
            <a:chExt cx="865632" cy="7071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265" y="35161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4E5E78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0400" y="2390775"/>
            <a:ext cx="1540764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178C6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Technology waste is hidden, scattered, and checked too late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71600" y="3497580"/>
            <a:ext cx="5760720" cy="5692140"/>
            <a:chOff x="0" y="0"/>
            <a:chExt cx="7680960" cy="7589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80961" cy="7589520"/>
            </a:xfrm>
            <a:custGeom>
              <a:avLst/>
              <a:gdLst/>
              <a:ahLst/>
              <a:cxnLst/>
              <a:rect l="l" t="t" r="r" b="b"/>
              <a:pathLst>
                <a:path w="7680961" h="7589520">
                  <a:moveTo>
                    <a:pt x="0" y="910717"/>
                  </a:moveTo>
                  <a:cubicBezTo>
                    <a:pt x="0" y="407797"/>
                    <a:pt x="407797" y="0"/>
                    <a:pt x="910717" y="0"/>
                  </a:cubicBezTo>
                  <a:lnTo>
                    <a:pt x="6770243" y="0"/>
                  </a:lnTo>
                  <a:cubicBezTo>
                    <a:pt x="7273290" y="0"/>
                    <a:pt x="7680961" y="407797"/>
                    <a:pt x="7680961" y="910717"/>
                  </a:cubicBezTo>
                  <a:lnTo>
                    <a:pt x="7680961" y="6678803"/>
                  </a:lnTo>
                  <a:cubicBezTo>
                    <a:pt x="7680961" y="7181850"/>
                    <a:pt x="7273163" y="7589520"/>
                    <a:pt x="6770243" y="7589520"/>
                  </a:cubicBezTo>
                  <a:lnTo>
                    <a:pt x="910717" y="7589520"/>
                  </a:lnTo>
                  <a:cubicBezTo>
                    <a:pt x="407797" y="7589520"/>
                    <a:pt x="0" y="7181723"/>
                    <a:pt x="0" y="6678803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60220" y="4141470"/>
            <a:ext cx="4983480" cy="179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Sustainability is audited after the waste already exists.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0220" y="6095535"/>
            <a:ext cx="498348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178C6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nobody checks whether the AI tooling itself costs more energy than it saves.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543800" y="3497580"/>
            <a:ext cx="9326880" cy="1577340"/>
            <a:chOff x="0" y="0"/>
            <a:chExt cx="12435840" cy="2103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35840" cy="2103120"/>
            </a:xfrm>
            <a:custGeom>
              <a:avLst/>
              <a:gdLst/>
              <a:ahLst/>
              <a:cxnLst/>
              <a:rect l="l" t="t" r="r" b="b"/>
              <a:pathLst>
                <a:path w="12435840" h="2103120">
                  <a:moveTo>
                    <a:pt x="0" y="210312"/>
                  </a:moveTo>
                  <a:cubicBezTo>
                    <a:pt x="0" y="94107"/>
                    <a:pt x="94107" y="0"/>
                    <a:pt x="210312" y="0"/>
                  </a:cubicBezTo>
                  <a:lnTo>
                    <a:pt x="12225528" y="0"/>
                  </a:lnTo>
                  <a:cubicBezTo>
                    <a:pt x="12341733" y="0"/>
                    <a:pt x="12435840" y="94107"/>
                    <a:pt x="12435840" y="210312"/>
                  </a:cubicBezTo>
                  <a:lnTo>
                    <a:pt x="12435840" y="1892808"/>
                  </a:lnTo>
                  <a:cubicBezTo>
                    <a:pt x="12435840" y="2009013"/>
                    <a:pt x="12341733" y="2103120"/>
                    <a:pt x="12225528" y="2103120"/>
                  </a:cubicBezTo>
                  <a:lnTo>
                    <a:pt x="210312" y="2103120"/>
                  </a:lnTo>
                  <a:cubicBezTo>
                    <a:pt x="94107" y="2103120"/>
                    <a:pt x="0" y="2009013"/>
                    <a:pt x="0" y="189280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2435840" cy="21507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Technology waste is hidden everywhere: </a:t>
              </a:r>
              <a:r>
                <a:rPr lang="en-US" sz="254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dead code, duplicate imports, redundant calls in loops, idle compute, orphaned storage, bloated images, runaway logs, duplicate recordings.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543800" y="5239512"/>
            <a:ext cx="9326880" cy="1097280"/>
            <a:chOff x="0" y="0"/>
            <a:chExt cx="12435840" cy="14630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435840" cy="1463040"/>
            </a:xfrm>
            <a:custGeom>
              <a:avLst/>
              <a:gdLst/>
              <a:ahLst/>
              <a:cxnLst/>
              <a:rect l="l" t="t" r="r" b="b"/>
              <a:pathLst>
                <a:path w="12435840" h="1463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289536" y="0"/>
                  </a:lnTo>
                  <a:cubicBezTo>
                    <a:pt x="12370308" y="0"/>
                    <a:pt x="12435840" y="65532"/>
                    <a:pt x="12435840" y="146304"/>
                  </a:cubicBezTo>
                  <a:lnTo>
                    <a:pt x="12435840" y="1316736"/>
                  </a:lnTo>
                  <a:cubicBezTo>
                    <a:pt x="12435840" y="1397508"/>
                    <a:pt x="12370308" y="1463040"/>
                    <a:pt x="122895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2435840" cy="151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59"/>
                </a:lnSpc>
              </a:pPr>
              <a:r>
                <a:rPr lang="en-US" sz="2549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Sustainability reviews happen late, </a:t>
              </a:r>
              <a:r>
                <a:rPr lang="en-US" sz="254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as audits or reports, after the waste already exists.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43800" y="6501384"/>
            <a:ext cx="9326880" cy="1097280"/>
            <a:chOff x="0" y="0"/>
            <a:chExt cx="12435840" cy="1463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435840" cy="1463040"/>
            </a:xfrm>
            <a:custGeom>
              <a:avLst/>
              <a:gdLst/>
              <a:ahLst/>
              <a:cxnLst/>
              <a:rect l="l" t="t" r="r" b="b"/>
              <a:pathLst>
                <a:path w="12435840" h="1463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289536" y="0"/>
                  </a:lnTo>
                  <a:cubicBezTo>
                    <a:pt x="12370308" y="0"/>
                    <a:pt x="12435840" y="65532"/>
                    <a:pt x="12435840" y="146304"/>
                  </a:cubicBezTo>
                  <a:lnTo>
                    <a:pt x="12435840" y="1316736"/>
                  </a:lnTo>
                  <a:cubicBezTo>
                    <a:pt x="12435840" y="1397508"/>
                    <a:pt x="12370308" y="1463040"/>
                    <a:pt x="1228953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435840" cy="1520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Existing tools report numbers </a:t>
              </a:r>
              <a:r>
                <a:rPr lang="en-US" sz="264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but don't investigate, fix or verify.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43800" y="7763256"/>
            <a:ext cx="9326880" cy="1577340"/>
            <a:chOff x="0" y="0"/>
            <a:chExt cx="12435840" cy="21031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35840" cy="2103120"/>
            </a:xfrm>
            <a:custGeom>
              <a:avLst/>
              <a:gdLst/>
              <a:ahLst/>
              <a:cxnLst/>
              <a:rect l="l" t="t" r="r" b="b"/>
              <a:pathLst>
                <a:path w="12435840" h="2103120">
                  <a:moveTo>
                    <a:pt x="0" y="210312"/>
                  </a:moveTo>
                  <a:cubicBezTo>
                    <a:pt x="0" y="94107"/>
                    <a:pt x="94107" y="0"/>
                    <a:pt x="210312" y="0"/>
                  </a:cubicBezTo>
                  <a:lnTo>
                    <a:pt x="12225528" y="0"/>
                  </a:lnTo>
                  <a:cubicBezTo>
                    <a:pt x="12341733" y="0"/>
                    <a:pt x="12435840" y="94107"/>
                    <a:pt x="12435840" y="210312"/>
                  </a:cubicBezTo>
                  <a:lnTo>
                    <a:pt x="12435840" y="1892808"/>
                  </a:lnTo>
                  <a:cubicBezTo>
                    <a:pt x="12435840" y="2009013"/>
                    <a:pt x="12341733" y="2103120"/>
                    <a:pt x="12225528" y="2103120"/>
                  </a:cubicBezTo>
                  <a:lnTo>
                    <a:pt x="210312" y="2103120"/>
                  </a:lnTo>
                  <a:cubicBezTo>
                    <a:pt x="94107" y="2103120"/>
                    <a:pt x="0" y="2009013"/>
                    <a:pt x="0" y="189280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435840" cy="216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179"/>
                </a:lnSpc>
              </a:pPr>
              <a:r>
                <a:rPr lang="en-US" sz="2649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AI tools add a new problem: </a:t>
              </a:r>
              <a:r>
                <a:rPr lang="en-US" sz="264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they consume tokens and energy themselves, and nobody asks whether the tool saves more than it costs.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600" y="3303746"/>
            <a:ext cx="7749540" cy="5720199"/>
            <a:chOff x="0" y="0"/>
            <a:chExt cx="2041031" cy="15065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1031" cy="1506555"/>
            </a:xfrm>
            <a:custGeom>
              <a:avLst/>
              <a:gdLst/>
              <a:ahLst/>
              <a:cxnLst/>
              <a:rect l="l" t="t" r="r" b="b"/>
              <a:pathLst>
                <a:path w="2041031" h="1506555">
                  <a:moveTo>
                    <a:pt x="0" y="0"/>
                  </a:moveTo>
                  <a:lnTo>
                    <a:pt x="2041031" y="0"/>
                  </a:lnTo>
                  <a:lnTo>
                    <a:pt x="2041031" y="1506555"/>
                  </a:lnTo>
                  <a:lnTo>
                    <a:pt x="0" y="1506555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041031" cy="1554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3507" y="3067050"/>
            <a:ext cx="7326173" cy="5956895"/>
            <a:chOff x="0" y="0"/>
            <a:chExt cx="1929527" cy="15688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29527" cy="1568894"/>
            </a:xfrm>
            <a:custGeom>
              <a:avLst/>
              <a:gdLst/>
              <a:ahLst/>
              <a:cxnLst/>
              <a:rect l="l" t="t" r="r" b="b"/>
              <a:pathLst>
                <a:path w="1929527" h="1568894">
                  <a:moveTo>
                    <a:pt x="0" y="0"/>
                  </a:moveTo>
                  <a:lnTo>
                    <a:pt x="1929527" y="0"/>
                  </a:lnTo>
                  <a:lnTo>
                    <a:pt x="1929527" y="1568894"/>
                  </a:lnTo>
                  <a:lnTo>
                    <a:pt x="0" y="1568894"/>
                  </a:ln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929527" cy="16165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65265" y="1388269"/>
            <a:ext cx="17555527" cy="8676322"/>
            <a:chOff x="0" y="0"/>
            <a:chExt cx="23407370" cy="115684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406608" cy="11567160"/>
            </a:xfrm>
            <a:custGeom>
              <a:avLst/>
              <a:gdLst/>
              <a:ahLst/>
              <a:cxnLst/>
              <a:rect l="l" t="t" r="r" b="b"/>
              <a:pathLst>
                <a:path w="23406608" h="11567160">
                  <a:moveTo>
                    <a:pt x="23406608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406608" y="11567160"/>
                  </a:lnTo>
                  <a:lnTo>
                    <a:pt x="2340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 descr="$PPTXTitle"/>
          <p:cNvSpPr txBox="1"/>
          <p:nvPr/>
        </p:nvSpPr>
        <p:spPr>
          <a:xfrm>
            <a:off x="1543507" y="1672454"/>
            <a:ext cx="15499080" cy="92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8"/>
              </a:lnSpc>
            </a:pPr>
            <a:r>
              <a:rPr lang="en-US" sz="55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Solution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54728" y="397764"/>
            <a:ext cx="649224" cy="530352"/>
            <a:chOff x="0" y="0"/>
            <a:chExt cx="865632" cy="7071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65265" y="35161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4E5E78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3507" y="2466975"/>
            <a:ext cx="1540764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178C6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 sustainability control plane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543507" y="3303746"/>
            <a:ext cx="7470438" cy="5946200"/>
            <a:chOff x="0" y="0"/>
            <a:chExt cx="1967523" cy="15660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67523" cy="1566077"/>
            </a:xfrm>
            <a:custGeom>
              <a:avLst/>
              <a:gdLst/>
              <a:ahLst/>
              <a:cxnLst/>
              <a:rect l="l" t="t" r="r" b="b"/>
              <a:pathLst>
                <a:path w="1967523" h="1566077">
                  <a:moveTo>
                    <a:pt x="0" y="0"/>
                  </a:moveTo>
                  <a:lnTo>
                    <a:pt x="1967523" y="0"/>
                  </a:lnTo>
                  <a:lnTo>
                    <a:pt x="1967523" y="1566077"/>
                  </a:lnTo>
                  <a:lnTo>
                    <a:pt x="0" y="1566077"/>
                  </a:ln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967523" cy="16137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71600" y="3352671"/>
            <a:ext cx="7452360" cy="57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Scans a real workload </a:t>
            </a: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finds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Sustainability Bugs: </a:t>
            </a: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waste backed by concrete evidence, not guesses.</a:t>
            </a: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bug runs through a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human-controlled, traceable loop:</a:t>
            </a: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Detect → Investigate → Compare → Simulate → Approve → Improve → Verify</a:t>
            </a: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Every step goes into an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append-only </a:t>
            </a: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Sustainability Ledger.</a:t>
            </a: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GreenOps measures its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own footprint </a:t>
            </a: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and reports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net savings </a:t>
            </a: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(savings minus its own cost).</a:t>
            </a:r>
          </a:p>
          <a:p>
            <a:pPr marL="582927" lvl="1" indent="-291463" algn="l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 Orchestrator delegates to </a:t>
            </a:r>
            <a:r>
              <a:rPr lang="en-US" sz="26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six specialist agents.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601200" y="3497580"/>
            <a:ext cx="7269480" cy="1097280"/>
            <a:chOff x="0" y="0"/>
            <a:chExt cx="9692640" cy="1463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692640" cy="1462913"/>
            </a:xfrm>
            <a:custGeom>
              <a:avLst/>
              <a:gdLst/>
              <a:ahLst/>
              <a:cxnLst/>
              <a:rect l="l" t="t" r="r" b="b"/>
              <a:pathLst>
                <a:path w="9692640" h="1462913">
                  <a:moveTo>
                    <a:pt x="0" y="175514"/>
                  </a:moveTo>
                  <a:cubicBezTo>
                    <a:pt x="0" y="78613"/>
                    <a:pt x="78613" y="0"/>
                    <a:pt x="175514" y="0"/>
                  </a:cubicBezTo>
                  <a:lnTo>
                    <a:pt x="9517126" y="0"/>
                  </a:lnTo>
                  <a:cubicBezTo>
                    <a:pt x="9614027" y="0"/>
                    <a:pt x="9692640" y="78613"/>
                    <a:pt x="9692640" y="175514"/>
                  </a:cubicBezTo>
                  <a:lnTo>
                    <a:pt x="9692640" y="1287399"/>
                  </a:lnTo>
                  <a:cubicBezTo>
                    <a:pt x="9692640" y="1384300"/>
                    <a:pt x="9614027" y="1462913"/>
                    <a:pt x="9517126" y="1462913"/>
                  </a:cubicBezTo>
                  <a:lnTo>
                    <a:pt x="175514" y="1462913"/>
                  </a:lnTo>
                  <a:cubicBezTo>
                    <a:pt x="78613" y="1463040"/>
                    <a:pt x="0" y="1384427"/>
                    <a:pt x="0" y="1287526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9692640" cy="151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Orchestrator Agent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Plan, reason, delegate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H="1">
            <a:off x="13023302" y="4580574"/>
            <a:ext cx="198347" cy="440052"/>
          </a:xfrm>
          <a:prstGeom prst="line">
            <a:avLst/>
          </a:prstGeom>
          <a:ln w="19050" cap="rnd">
            <a:solidFill>
              <a:srgbClr val="5A5F6B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9589294" y="5063014"/>
            <a:ext cx="2355533" cy="1326832"/>
            <a:chOff x="0" y="0"/>
            <a:chExt cx="3140710" cy="17691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AI Efficiency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tokens, retries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58174" y="5063014"/>
            <a:ext cx="2355533" cy="1326832"/>
            <a:chOff x="0" y="0"/>
            <a:chExt cx="3140710" cy="176911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Digital Waste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cloud, storage, logs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527054" y="5063014"/>
            <a:ext cx="2355533" cy="1326832"/>
            <a:chOff x="0" y="0"/>
            <a:chExt cx="3140710" cy="17691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Carbon Incident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energy spikes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89294" y="6503194"/>
            <a:ext cx="2355533" cy="1326832"/>
            <a:chOff x="0" y="0"/>
            <a:chExt cx="3140710" cy="17691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Architecture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IaC design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058174" y="6503194"/>
            <a:ext cx="2355533" cy="1326832"/>
            <a:chOff x="0" y="0"/>
            <a:chExt cx="3140710" cy="17691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Disaster Recovery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replicas, standby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4527054" y="6503194"/>
            <a:ext cx="2355533" cy="1326832"/>
            <a:chOff x="0" y="0"/>
            <a:chExt cx="3140710" cy="176911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40710" cy="1769110"/>
            </a:xfrm>
            <a:custGeom>
              <a:avLst/>
              <a:gdLst/>
              <a:ahLst/>
              <a:cxnLst/>
              <a:rect l="l" t="t" r="r" b="b"/>
              <a:pathLst>
                <a:path w="314071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2928366" y="0"/>
                  </a:lnTo>
                  <a:cubicBezTo>
                    <a:pt x="3045587" y="0"/>
                    <a:pt x="3140710" y="94996"/>
                    <a:pt x="3140710" y="212344"/>
                  </a:cubicBezTo>
                  <a:lnTo>
                    <a:pt x="3140710" y="1556766"/>
                  </a:lnTo>
                  <a:cubicBezTo>
                    <a:pt x="3140710" y="1673987"/>
                    <a:pt x="3045714" y="1769110"/>
                    <a:pt x="292836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ECE6F8"/>
            </a:solidFill>
            <a:ln w="23812" cap="sq">
              <a:solidFill>
                <a:srgbClr val="3A1F8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140710" cy="1807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Collaboration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A5F6B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recordings, retention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5076660">
            <a:off x="13083816" y="8014335"/>
            <a:ext cx="304238" cy="0"/>
          </a:xfrm>
          <a:prstGeom prst="line">
            <a:avLst/>
          </a:prstGeom>
          <a:ln w="19050" cap="rnd">
            <a:solidFill>
              <a:srgbClr val="5A5F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9601200" y="8161020"/>
            <a:ext cx="7269480" cy="1028700"/>
            <a:chOff x="0" y="0"/>
            <a:chExt cx="9692640" cy="13716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692640" cy="1371600"/>
            </a:xfrm>
            <a:custGeom>
              <a:avLst/>
              <a:gdLst/>
              <a:ahLst/>
              <a:cxnLst/>
              <a:rect l="l" t="t" r="r" b="b"/>
              <a:pathLst>
                <a:path w="9692640" h="1371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528048" y="0"/>
                  </a:lnTo>
                  <a:cubicBezTo>
                    <a:pt x="9618980" y="0"/>
                    <a:pt x="9692640" y="73660"/>
                    <a:pt x="9692640" y="164592"/>
                  </a:cubicBezTo>
                  <a:lnTo>
                    <a:pt x="9692640" y="1207008"/>
                  </a:lnTo>
                  <a:cubicBezTo>
                    <a:pt x="9692640" y="1297940"/>
                    <a:pt x="9618980" y="1371600"/>
                    <a:pt x="952804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9692640" cy="1419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One shared bug type → 7-stage loop → one ledger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75761" y="1559719"/>
            <a:ext cx="17555527" cy="8676322"/>
            <a:chOff x="0" y="0"/>
            <a:chExt cx="23407370" cy="115684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06608" cy="11567160"/>
            </a:xfrm>
            <a:custGeom>
              <a:avLst/>
              <a:gdLst/>
              <a:ahLst/>
              <a:cxnLst/>
              <a:rect l="l" t="t" r="r" b="b"/>
              <a:pathLst>
                <a:path w="23406608" h="11567160">
                  <a:moveTo>
                    <a:pt x="23406608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406608" y="11567160"/>
                  </a:lnTo>
                  <a:lnTo>
                    <a:pt x="2340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 descr="$PPTXTitle"/>
          <p:cNvSpPr txBox="1"/>
          <p:nvPr/>
        </p:nvSpPr>
        <p:spPr>
          <a:xfrm>
            <a:off x="1078097" y="1709942"/>
            <a:ext cx="15499080" cy="86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2"/>
              </a:lnSpc>
            </a:pPr>
            <a:r>
              <a:rPr lang="en-US" sz="51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the agent 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254728" y="397764"/>
            <a:ext cx="649224" cy="530352"/>
            <a:chOff x="0" y="0"/>
            <a:chExt cx="865632" cy="7071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265" y="35161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4E5E78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479831"/>
            <a:ext cx="1540764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178C6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Seven stages in a loop, coordinated by the Orchestrator and logged in the ledger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566160" y="4937760"/>
            <a:ext cx="3017520" cy="3017520"/>
            <a:chOff x="0" y="0"/>
            <a:chExt cx="4023360" cy="4023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23360" cy="4023360"/>
            </a:xfrm>
            <a:custGeom>
              <a:avLst/>
              <a:gdLst/>
              <a:ahLst/>
              <a:cxnLst/>
              <a:rect l="l" t="t" r="r" b="b"/>
              <a:pathLst>
                <a:path w="4023360" h="4023360">
                  <a:moveTo>
                    <a:pt x="0" y="2011680"/>
                  </a:moveTo>
                  <a:cubicBezTo>
                    <a:pt x="0" y="900684"/>
                    <a:pt x="900684" y="0"/>
                    <a:pt x="2011680" y="0"/>
                  </a:cubicBezTo>
                  <a:cubicBezTo>
                    <a:pt x="3122676" y="0"/>
                    <a:pt x="4023360" y="900684"/>
                    <a:pt x="4023360" y="2011680"/>
                  </a:cubicBezTo>
                  <a:cubicBezTo>
                    <a:pt x="4023360" y="3122676"/>
                    <a:pt x="3122676" y="4023360"/>
                    <a:pt x="2011680" y="4023360"/>
                  </a:cubicBezTo>
                  <a:cubicBezTo>
                    <a:pt x="900684" y="4023360"/>
                    <a:pt x="0" y="3122676"/>
                    <a:pt x="0" y="2011680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23360" cy="4070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47D9AD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Orchestrator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delegates to 6 agents; ledger logs every step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22292" y="3525012"/>
            <a:ext cx="905256" cy="905256"/>
            <a:chOff x="0" y="0"/>
            <a:chExt cx="1207008" cy="12070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52543" y="4454566"/>
            <a:ext cx="905256" cy="905256"/>
            <a:chOff x="0" y="0"/>
            <a:chExt cx="1207008" cy="12070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29269" y="6543265"/>
            <a:ext cx="905256" cy="905256"/>
            <a:chOff x="0" y="0"/>
            <a:chExt cx="1207008" cy="12070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93502" y="8218275"/>
            <a:ext cx="905256" cy="905256"/>
            <a:chOff x="0" y="0"/>
            <a:chExt cx="1207008" cy="12070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551082" y="8218275"/>
            <a:ext cx="905256" cy="905256"/>
            <a:chOff x="0" y="0"/>
            <a:chExt cx="1207008" cy="12070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F5B3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215315" y="6543265"/>
            <a:ext cx="905256" cy="905256"/>
            <a:chOff x="0" y="0"/>
            <a:chExt cx="1207008" cy="120700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692041" y="4454566"/>
            <a:ext cx="905256" cy="905256"/>
            <a:chOff x="0" y="0"/>
            <a:chExt cx="1207008" cy="120700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7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47651" y="3191694"/>
            <a:ext cx="6940553" cy="6698094"/>
            <a:chOff x="0" y="0"/>
            <a:chExt cx="1827965" cy="176410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827965" cy="1764107"/>
            </a:xfrm>
            <a:custGeom>
              <a:avLst/>
              <a:gdLst/>
              <a:ahLst/>
              <a:cxnLst/>
              <a:rect l="l" t="t" r="r" b="b"/>
              <a:pathLst>
                <a:path w="1827965" h="1764107">
                  <a:moveTo>
                    <a:pt x="0" y="0"/>
                  </a:moveTo>
                  <a:lnTo>
                    <a:pt x="1827965" y="0"/>
                  </a:lnTo>
                  <a:lnTo>
                    <a:pt x="1827965" y="1764107"/>
                  </a:lnTo>
                  <a:lnTo>
                    <a:pt x="0" y="1764107"/>
                  </a:ln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827965" cy="1811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326880" y="3621024"/>
            <a:ext cx="576072" cy="576072"/>
            <a:chOff x="0" y="0"/>
            <a:chExt cx="768096" cy="76809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081260" y="3566160"/>
            <a:ext cx="7132320" cy="685800"/>
            <a:chOff x="0" y="0"/>
            <a:chExt cx="9509760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95097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Detect  </a:t>
              </a:r>
              <a:r>
                <a:rPr lang="en-US" sz="24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Agents find evidenced bugs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26880" y="4471416"/>
            <a:ext cx="576072" cy="576072"/>
            <a:chOff x="0" y="0"/>
            <a:chExt cx="768096" cy="7680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081260" y="4416552"/>
            <a:ext cx="7132320" cy="685800"/>
            <a:chOff x="0" y="0"/>
            <a:chExt cx="9509760" cy="914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5097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Investigate  </a:t>
              </a:r>
              <a:r>
                <a:rPr lang="en-US" sz="24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Root-cause each bug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326880" y="5321808"/>
            <a:ext cx="576072" cy="576072"/>
            <a:chOff x="0" y="0"/>
            <a:chExt cx="768096" cy="7680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081260" y="5297761"/>
            <a:ext cx="5959902" cy="891666"/>
            <a:chOff x="0" y="0"/>
            <a:chExt cx="7946537" cy="118888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946537" cy="1188889"/>
            </a:xfrm>
            <a:custGeom>
              <a:avLst/>
              <a:gdLst/>
              <a:ahLst/>
              <a:cxnLst/>
              <a:rect l="l" t="t" r="r" b="b"/>
              <a:pathLst>
                <a:path w="7946537" h="1188889">
                  <a:moveTo>
                    <a:pt x="0" y="0"/>
                  </a:moveTo>
                  <a:lnTo>
                    <a:pt x="7946537" y="0"/>
                  </a:lnTo>
                  <a:lnTo>
                    <a:pt x="7946537" y="1188889"/>
                  </a:lnTo>
                  <a:lnTo>
                    <a:pt x="0" y="1188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7402" r="-19671" b="-943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7946537" cy="1246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Compare  </a:t>
              </a:r>
              <a:r>
                <a:rPr lang="en-US" sz="25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Fixes with expected gain and risk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326880" y="6172200"/>
            <a:ext cx="576072" cy="576072"/>
            <a:chOff x="0" y="0"/>
            <a:chExt cx="768096" cy="76809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081260" y="6117336"/>
            <a:ext cx="7132320" cy="685800"/>
            <a:chOff x="0" y="0"/>
            <a:chExt cx="9509760" cy="9144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950976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Simulate  </a:t>
              </a:r>
              <a:r>
                <a:rPr lang="en-US" sz="26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Estimate kWh and CO₂e first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26880" y="7022592"/>
            <a:ext cx="576072" cy="576072"/>
            <a:chOff x="0" y="0"/>
            <a:chExt cx="768096" cy="7680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5B3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081260" y="6722827"/>
            <a:ext cx="6098636" cy="1380404"/>
            <a:chOff x="0" y="0"/>
            <a:chExt cx="8131514" cy="1840539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31515" cy="1840539"/>
            </a:xfrm>
            <a:custGeom>
              <a:avLst/>
              <a:gdLst/>
              <a:ahLst/>
              <a:cxnLst/>
              <a:rect l="l" t="t" r="r" b="b"/>
              <a:pathLst>
                <a:path w="8131515" h="1840539">
                  <a:moveTo>
                    <a:pt x="0" y="0"/>
                  </a:moveTo>
                  <a:lnTo>
                    <a:pt x="8131515" y="0"/>
                  </a:lnTo>
                  <a:lnTo>
                    <a:pt x="8131515" y="1840539"/>
                  </a:lnTo>
                  <a:lnTo>
                    <a:pt x="0" y="1840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5835" r="-16949" b="-2551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8131514" cy="1897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Approve  </a:t>
              </a:r>
              <a:r>
                <a:rPr lang="en-US" sz="26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Human gate;logs sign-off in ledger (advisory for prototype)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326880" y="7872984"/>
            <a:ext cx="576072" cy="576072"/>
            <a:chOff x="0" y="0"/>
            <a:chExt cx="768096" cy="768096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081260" y="7818120"/>
            <a:ext cx="5539740" cy="891666"/>
            <a:chOff x="0" y="0"/>
            <a:chExt cx="9509760" cy="1188889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509760" cy="1188889"/>
            </a:xfrm>
            <a:custGeom>
              <a:avLst/>
              <a:gdLst/>
              <a:ahLst/>
              <a:cxnLst/>
              <a:rect l="l" t="t" r="r" b="b"/>
              <a:pathLst>
                <a:path w="9509760" h="1188889">
                  <a:moveTo>
                    <a:pt x="0" y="0"/>
                  </a:moveTo>
                  <a:lnTo>
                    <a:pt x="9509760" y="0"/>
                  </a:lnTo>
                  <a:lnTo>
                    <a:pt x="9509760" y="1188889"/>
                  </a:lnTo>
                  <a:lnTo>
                    <a:pt x="0" y="11888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7402" b="-9431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57150"/>
              <a:ext cx="9509760" cy="1246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 dirty="0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Improve  </a:t>
              </a:r>
              <a:r>
                <a:rPr lang="en-US" sz="2599" dirty="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Sandbox PR fix (prototype); direct infra mutation in production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326880" y="8723376"/>
            <a:ext cx="576072" cy="576072"/>
            <a:chOff x="0" y="0"/>
            <a:chExt cx="768096" cy="7680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78C6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768096" cy="80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7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081260" y="8668512"/>
            <a:ext cx="7132320" cy="685800"/>
            <a:chOff x="0" y="0"/>
            <a:chExt cx="9509760" cy="9144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509760" cy="914400"/>
            </a:xfrm>
            <a:custGeom>
              <a:avLst/>
              <a:gdLst/>
              <a:ahLst/>
              <a:cxnLst/>
              <a:rect l="l" t="t" r="r" b="b"/>
              <a:pathLst>
                <a:path w="9509760" h="914400">
                  <a:moveTo>
                    <a:pt x="0" y="0"/>
                  </a:moveTo>
                  <a:lnTo>
                    <a:pt x="9509760" y="0"/>
                  </a:lnTo>
                  <a:lnTo>
                    <a:pt x="9509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2644" b="-152644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950976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3A1F82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Verify  </a:t>
              </a:r>
              <a:r>
                <a:rPr lang="en-US" sz="2499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Re-run Detect, record the change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78097" y="3112461"/>
            <a:ext cx="7288528" cy="6698094"/>
            <a:chOff x="0" y="0"/>
            <a:chExt cx="1919612" cy="1764107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919612" cy="1764107"/>
            </a:xfrm>
            <a:custGeom>
              <a:avLst/>
              <a:gdLst/>
              <a:ahLst/>
              <a:cxnLst/>
              <a:rect l="l" t="t" r="r" b="b"/>
              <a:pathLst>
                <a:path w="1919612" h="1764107">
                  <a:moveTo>
                    <a:pt x="0" y="0"/>
                  </a:moveTo>
                  <a:lnTo>
                    <a:pt x="1919612" y="0"/>
                  </a:lnTo>
                  <a:lnTo>
                    <a:pt x="1919612" y="1764107"/>
                  </a:lnTo>
                  <a:lnTo>
                    <a:pt x="0" y="1764107"/>
                  </a:ln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1919612" cy="1811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931537" y="3596992"/>
            <a:ext cx="5562600" cy="5562600"/>
            <a:chOff x="0" y="0"/>
            <a:chExt cx="7416800" cy="74168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416800" cy="7416800"/>
            </a:xfrm>
            <a:custGeom>
              <a:avLst/>
              <a:gdLst/>
              <a:ahLst/>
              <a:cxnLst/>
              <a:rect l="l" t="t" r="r" b="b"/>
              <a:pathLst>
                <a:path w="7416800" h="7416800">
                  <a:moveTo>
                    <a:pt x="0" y="3708400"/>
                  </a:moveTo>
                  <a:cubicBezTo>
                    <a:pt x="0" y="1660271"/>
                    <a:pt x="1660271" y="0"/>
                    <a:pt x="3708400" y="0"/>
                  </a:cubicBezTo>
                  <a:cubicBezTo>
                    <a:pt x="5756529" y="0"/>
                    <a:pt x="7416800" y="1660271"/>
                    <a:pt x="7416800" y="3708400"/>
                  </a:cubicBezTo>
                  <a:cubicBezTo>
                    <a:pt x="7416800" y="5756529"/>
                    <a:pt x="5756529" y="7416800"/>
                    <a:pt x="3708400" y="7416800"/>
                  </a:cubicBezTo>
                  <a:cubicBezTo>
                    <a:pt x="1660271" y="7416800"/>
                    <a:pt x="0" y="5756529"/>
                    <a:pt x="0" y="3708400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  <a:ln w="76200" cap="sq">
              <a:solidFill>
                <a:srgbClr val="5FD3A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5" name="Group 85"/>
          <p:cNvGrpSpPr/>
          <p:nvPr/>
        </p:nvGrpSpPr>
        <p:grpSpPr>
          <a:xfrm rot="6942840">
            <a:off x="5689202" y="3668606"/>
            <a:ext cx="427739" cy="427739"/>
            <a:chOff x="0" y="0"/>
            <a:chExt cx="570319" cy="570319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7" name="Group 87"/>
          <p:cNvGrpSpPr/>
          <p:nvPr/>
        </p:nvGrpSpPr>
        <p:grpSpPr>
          <a:xfrm rot="10028580">
            <a:off x="7173397" y="5529725"/>
            <a:ext cx="427739" cy="427739"/>
            <a:chOff x="0" y="0"/>
            <a:chExt cx="570319" cy="570319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9" name="Group 89"/>
          <p:cNvGrpSpPr/>
          <p:nvPr/>
        </p:nvGrpSpPr>
        <p:grpSpPr>
          <a:xfrm rot="-8485740">
            <a:off x="6643692" y="7850500"/>
            <a:ext cx="427739" cy="427739"/>
            <a:chOff x="0" y="0"/>
            <a:chExt cx="570319" cy="570319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1" name="Group 91"/>
          <p:cNvGrpSpPr/>
          <p:nvPr/>
        </p:nvGrpSpPr>
        <p:grpSpPr>
          <a:xfrm rot="-5400000">
            <a:off x="4498977" y="8883344"/>
            <a:ext cx="427739" cy="427739"/>
            <a:chOff x="0" y="0"/>
            <a:chExt cx="570319" cy="570319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3" name="Group 93"/>
          <p:cNvGrpSpPr/>
          <p:nvPr/>
        </p:nvGrpSpPr>
        <p:grpSpPr>
          <a:xfrm rot="-2314260">
            <a:off x="2354251" y="7850500"/>
            <a:ext cx="427739" cy="427739"/>
            <a:chOff x="0" y="0"/>
            <a:chExt cx="570319" cy="570319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5" name="Group 95"/>
          <p:cNvGrpSpPr/>
          <p:nvPr/>
        </p:nvGrpSpPr>
        <p:grpSpPr>
          <a:xfrm rot="771420">
            <a:off x="1824547" y="5529725"/>
            <a:ext cx="427739" cy="427739"/>
            <a:chOff x="0" y="0"/>
            <a:chExt cx="570319" cy="570319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7" name="Group 97"/>
          <p:cNvGrpSpPr/>
          <p:nvPr/>
        </p:nvGrpSpPr>
        <p:grpSpPr>
          <a:xfrm rot="3857160">
            <a:off x="3308742" y="3668606"/>
            <a:ext cx="427739" cy="427739"/>
            <a:chOff x="0" y="0"/>
            <a:chExt cx="570319" cy="570319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70357" cy="570357"/>
            </a:xfrm>
            <a:custGeom>
              <a:avLst/>
              <a:gdLst/>
              <a:ahLst/>
              <a:cxnLst/>
              <a:rect l="l" t="t" r="r" b="b"/>
              <a:pathLst>
                <a:path w="570357" h="570357">
                  <a:moveTo>
                    <a:pt x="0" y="570357"/>
                  </a:moveTo>
                  <a:lnTo>
                    <a:pt x="285115" y="0"/>
                  </a:lnTo>
                  <a:lnTo>
                    <a:pt x="570357" y="570357"/>
                  </a:lnTo>
                  <a:close/>
                </a:path>
              </a:pathLst>
            </a:custGeom>
            <a:solidFill>
              <a:srgbClr val="1F7A5A"/>
            </a:solidFill>
            <a:ln w="25400" cap="sq">
              <a:solidFill>
                <a:srgbClr val="1F7A5A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145665" y="4786832"/>
            <a:ext cx="3134363" cy="3134363"/>
            <a:chOff x="0" y="0"/>
            <a:chExt cx="4179151" cy="417915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179189" cy="4179189"/>
            </a:xfrm>
            <a:custGeom>
              <a:avLst/>
              <a:gdLst/>
              <a:ahLst/>
              <a:cxnLst/>
              <a:rect l="l" t="t" r="r" b="b"/>
              <a:pathLst>
                <a:path w="4179189" h="4179189">
                  <a:moveTo>
                    <a:pt x="0" y="2089531"/>
                  </a:moveTo>
                  <a:cubicBezTo>
                    <a:pt x="0" y="935482"/>
                    <a:pt x="935482" y="0"/>
                    <a:pt x="2089531" y="0"/>
                  </a:cubicBezTo>
                  <a:cubicBezTo>
                    <a:pt x="3243580" y="0"/>
                    <a:pt x="4179189" y="935482"/>
                    <a:pt x="4179189" y="2089531"/>
                  </a:cubicBezTo>
                  <a:cubicBezTo>
                    <a:pt x="4179189" y="3243580"/>
                    <a:pt x="3243580" y="4179189"/>
                    <a:pt x="2089531" y="4179189"/>
                  </a:cubicBezTo>
                  <a:cubicBezTo>
                    <a:pt x="935482" y="4179189"/>
                    <a:pt x="0" y="3243580"/>
                    <a:pt x="0" y="2089531"/>
                  </a:cubicBezTo>
                  <a:close/>
                </a:path>
              </a:pathLst>
            </a:custGeom>
            <a:solidFill>
              <a:srgbClr val="0B3D2E"/>
            </a:solidFill>
            <a:ln w="25400" cap="sq">
              <a:solidFill>
                <a:srgbClr val="0B3D2E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3432681" y="5073849"/>
            <a:ext cx="2560320" cy="2560320"/>
            <a:chOff x="0" y="0"/>
            <a:chExt cx="3413760" cy="341376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57150"/>
              <a:ext cx="3413760" cy="34709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5FD3A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Orchestrator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delegates to 6 agents; ledger logs every step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4184518" y="3082485"/>
            <a:ext cx="1056637" cy="1056637"/>
            <a:chOff x="0" y="0"/>
            <a:chExt cx="1408849" cy="1408849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4209921" y="3107889"/>
            <a:ext cx="1005840" cy="1005840"/>
            <a:chOff x="0" y="0"/>
            <a:chExt cx="1341120" cy="134112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6329243" y="4115329"/>
            <a:ext cx="1056637" cy="1056637"/>
            <a:chOff x="0" y="0"/>
            <a:chExt cx="1408849" cy="1408849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354637" y="4140732"/>
            <a:ext cx="1005840" cy="1005840"/>
            <a:chOff x="0" y="0"/>
            <a:chExt cx="1341120" cy="134112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858948" y="6436104"/>
            <a:ext cx="1056637" cy="1056637"/>
            <a:chOff x="0" y="0"/>
            <a:chExt cx="1408849" cy="1408849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884341" y="6461508"/>
            <a:ext cx="1005840" cy="1005840"/>
            <a:chOff x="0" y="0"/>
            <a:chExt cx="1341120" cy="134112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5374753" y="8297223"/>
            <a:ext cx="1056637" cy="1056637"/>
            <a:chOff x="0" y="0"/>
            <a:chExt cx="1408849" cy="1408849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5400156" y="8322626"/>
            <a:ext cx="1005840" cy="1005840"/>
            <a:chOff x="0" y="0"/>
            <a:chExt cx="1341120" cy="134112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2994293" y="8297223"/>
            <a:ext cx="1056637" cy="1056637"/>
            <a:chOff x="0" y="0"/>
            <a:chExt cx="1408849" cy="1408849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F2B544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3019687" y="8322626"/>
            <a:ext cx="1005840" cy="1005840"/>
            <a:chOff x="0" y="0"/>
            <a:chExt cx="1341120" cy="134112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0B3D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510098" y="6436104"/>
            <a:ext cx="1056637" cy="1056637"/>
            <a:chOff x="0" y="0"/>
            <a:chExt cx="1408849" cy="1408849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535501" y="6461508"/>
            <a:ext cx="1005840" cy="1005840"/>
            <a:chOff x="0" y="0"/>
            <a:chExt cx="1341120" cy="134112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2039803" y="4115329"/>
            <a:ext cx="1056637" cy="1056637"/>
            <a:chOff x="0" y="0"/>
            <a:chExt cx="1408849" cy="1408849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1408938" cy="1408938"/>
            </a:xfrm>
            <a:custGeom>
              <a:avLst/>
              <a:gdLst/>
              <a:ahLst/>
              <a:cxnLst/>
              <a:rect l="l" t="t" r="r" b="b"/>
              <a:pathLst>
                <a:path w="1408938" h="1408938">
                  <a:moveTo>
                    <a:pt x="0" y="704469"/>
                  </a:moveTo>
                  <a:cubicBezTo>
                    <a:pt x="0" y="315341"/>
                    <a:pt x="315341" y="0"/>
                    <a:pt x="704469" y="0"/>
                  </a:cubicBezTo>
                  <a:cubicBezTo>
                    <a:pt x="1093597" y="0"/>
                    <a:pt x="1408938" y="315341"/>
                    <a:pt x="1408938" y="704469"/>
                  </a:cubicBezTo>
                  <a:cubicBezTo>
                    <a:pt x="1408938" y="1093597"/>
                    <a:pt x="1093597" y="1408938"/>
                    <a:pt x="704469" y="1408938"/>
                  </a:cubicBezTo>
                  <a:cubicBezTo>
                    <a:pt x="315341" y="1408938"/>
                    <a:pt x="0" y="1093470"/>
                    <a:pt x="0" y="704469"/>
                  </a:cubicBezTo>
                  <a:close/>
                </a:path>
              </a:pathLst>
            </a:custGeom>
            <a:solidFill>
              <a:srgbClr val="1F7A5A"/>
            </a:solid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2065206" y="4140732"/>
            <a:ext cx="1005840" cy="1005840"/>
            <a:chOff x="0" y="0"/>
            <a:chExt cx="1341120" cy="134112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0" y="-66675"/>
              <a:ext cx="134112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r="-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27268" y="790737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8792A4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710660" y="877824"/>
            <a:ext cx="649205" cy="534924"/>
            <a:chOff x="0" y="0"/>
            <a:chExt cx="865607" cy="7132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65632" cy="713232"/>
            </a:xfrm>
            <a:custGeom>
              <a:avLst/>
              <a:gdLst/>
              <a:ahLst/>
              <a:cxnLst/>
              <a:rect l="l" t="t" r="r" b="b"/>
              <a:pathLst>
                <a:path w="865632" h="713232">
                  <a:moveTo>
                    <a:pt x="0" y="0"/>
                  </a:moveTo>
                  <a:lnTo>
                    <a:pt x="865632" y="0"/>
                  </a:lnTo>
                  <a:lnTo>
                    <a:pt x="8656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5" r="2" b="-4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 descr="$PPTXTitle"/>
          <p:cNvSpPr txBox="1"/>
          <p:nvPr/>
        </p:nvSpPr>
        <p:spPr>
          <a:xfrm>
            <a:off x="1097280" y="1377315"/>
            <a:ext cx="15499080" cy="85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2"/>
              </a:lnSpc>
            </a:pPr>
            <a:r>
              <a:rPr lang="en-US" sz="51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 flow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2466975"/>
            <a:ext cx="1540764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47D9A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From evidence to verified, net-accounted impact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85374" y="3417094"/>
            <a:ext cx="3384233" cy="1189672"/>
            <a:chOff x="0" y="0"/>
            <a:chExt cx="4512310" cy="158623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12310" cy="1586230"/>
            </a:xfrm>
            <a:custGeom>
              <a:avLst/>
              <a:gdLst/>
              <a:ahLst/>
              <a:cxnLst/>
              <a:rect l="l" t="t" r="r" b="b"/>
              <a:pathLst>
                <a:path w="4512310" h="1586230">
                  <a:moveTo>
                    <a:pt x="0" y="190373"/>
                  </a:moveTo>
                  <a:cubicBezTo>
                    <a:pt x="0" y="85217"/>
                    <a:pt x="85217" y="0"/>
                    <a:pt x="190373" y="0"/>
                  </a:cubicBezTo>
                  <a:lnTo>
                    <a:pt x="4321937" y="0"/>
                  </a:lnTo>
                  <a:cubicBezTo>
                    <a:pt x="4427093" y="0"/>
                    <a:pt x="4512310" y="85217"/>
                    <a:pt x="4512310" y="190373"/>
                  </a:cubicBezTo>
                  <a:lnTo>
                    <a:pt x="4512310" y="1395857"/>
                  </a:lnTo>
                  <a:cubicBezTo>
                    <a:pt x="4512310" y="1501013"/>
                    <a:pt x="4427093" y="1586230"/>
                    <a:pt x="4321937" y="1586230"/>
                  </a:cubicBezTo>
                  <a:lnTo>
                    <a:pt x="190373" y="1586230"/>
                  </a:lnTo>
                  <a:cubicBezTo>
                    <a:pt x="85217" y="1586230"/>
                    <a:pt x="0" y="1501013"/>
                    <a:pt x="0" y="1395857"/>
                  </a:cubicBezTo>
                  <a:close/>
                </a:path>
              </a:pathLst>
            </a:custGeom>
            <a:solidFill>
              <a:srgbClr val="3A1F82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4512310" cy="1633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Input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Repo code + synthetic fixtures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486400" y="3429000"/>
            <a:ext cx="3360420" cy="1165860"/>
            <a:chOff x="0" y="0"/>
            <a:chExt cx="4480560" cy="15544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80560" cy="1554480"/>
            </a:xfrm>
            <a:custGeom>
              <a:avLst/>
              <a:gdLst/>
              <a:ahLst/>
              <a:cxnLst/>
              <a:rect l="l" t="t" r="r" b="b"/>
              <a:pathLst>
                <a:path w="4480560" h="1554480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4293997" y="0"/>
                  </a:lnTo>
                  <a:cubicBezTo>
                    <a:pt x="4396994" y="0"/>
                    <a:pt x="4480560" y="83566"/>
                    <a:pt x="4480560" y="186563"/>
                  </a:cubicBezTo>
                  <a:lnTo>
                    <a:pt x="4480560" y="1367917"/>
                  </a:lnTo>
                  <a:cubicBezTo>
                    <a:pt x="4480560" y="1470914"/>
                    <a:pt x="4396994" y="1554480"/>
                    <a:pt x="4293997" y="1554480"/>
                  </a:cubicBezTo>
                  <a:lnTo>
                    <a:pt x="186563" y="1554480"/>
                  </a:lnTo>
                  <a:cubicBezTo>
                    <a:pt x="83566" y="1554480"/>
                    <a:pt x="0" y="1470914"/>
                    <a:pt x="0" y="1367917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480560" cy="160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Orchestrator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Plans, delegates to 6 agents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5520" y="3429000"/>
            <a:ext cx="3360420" cy="1165860"/>
            <a:chOff x="0" y="0"/>
            <a:chExt cx="4480560" cy="1554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80560" cy="1554480"/>
            </a:xfrm>
            <a:custGeom>
              <a:avLst/>
              <a:gdLst/>
              <a:ahLst/>
              <a:cxnLst/>
              <a:rect l="l" t="t" r="r" b="b"/>
              <a:pathLst>
                <a:path w="4480560" h="1554480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4293997" y="0"/>
                  </a:lnTo>
                  <a:cubicBezTo>
                    <a:pt x="4396994" y="0"/>
                    <a:pt x="4480560" y="83566"/>
                    <a:pt x="4480560" y="186563"/>
                  </a:cubicBezTo>
                  <a:lnTo>
                    <a:pt x="4480560" y="1367917"/>
                  </a:lnTo>
                  <a:cubicBezTo>
                    <a:pt x="4480560" y="1470914"/>
                    <a:pt x="4396994" y="1554480"/>
                    <a:pt x="4293997" y="1554480"/>
                  </a:cubicBezTo>
                  <a:lnTo>
                    <a:pt x="186563" y="1554480"/>
                  </a:lnTo>
                  <a:cubicBezTo>
                    <a:pt x="83566" y="1554480"/>
                    <a:pt x="0" y="1470914"/>
                    <a:pt x="0" y="1367917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480560" cy="160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Detect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AST, symbols, graph, rules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264640" y="3429000"/>
            <a:ext cx="3360420" cy="1165860"/>
            <a:chOff x="0" y="0"/>
            <a:chExt cx="4480560" cy="1554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80560" cy="1554480"/>
            </a:xfrm>
            <a:custGeom>
              <a:avLst/>
              <a:gdLst/>
              <a:ahLst/>
              <a:cxnLst/>
              <a:rect l="l" t="t" r="r" b="b"/>
              <a:pathLst>
                <a:path w="4480560" h="1554480">
                  <a:moveTo>
                    <a:pt x="0" y="186563"/>
                  </a:moveTo>
                  <a:cubicBezTo>
                    <a:pt x="0" y="83566"/>
                    <a:pt x="83566" y="0"/>
                    <a:pt x="186563" y="0"/>
                  </a:cubicBezTo>
                  <a:lnTo>
                    <a:pt x="4293997" y="0"/>
                  </a:lnTo>
                  <a:cubicBezTo>
                    <a:pt x="4396994" y="0"/>
                    <a:pt x="4480560" y="83566"/>
                    <a:pt x="4480560" y="186563"/>
                  </a:cubicBezTo>
                  <a:lnTo>
                    <a:pt x="4480560" y="1367917"/>
                  </a:lnTo>
                  <a:cubicBezTo>
                    <a:pt x="4480560" y="1470914"/>
                    <a:pt x="4396994" y="1554480"/>
                    <a:pt x="4293997" y="1554480"/>
                  </a:cubicBezTo>
                  <a:lnTo>
                    <a:pt x="186563" y="1554480"/>
                  </a:lnTo>
                  <a:cubicBezTo>
                    <a:pt x="83566" y="1554480"/>
                    <a:pt x="0" y="1470914"/>
                    <a:pt x="0" y="1367917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4480560" cy="1602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Investigate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Root cause via offline reasoner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92880">
            <a:off x="4443222" y="3995547"/>
            <a:ext cx="105766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2" name="AutoShape 22"/>
          <p:cNvSpPr/>
          <p:nvPr/>
        </p:nvSpPr>
        <p:spPr>
          <a:xfrm rot="92880">
            <a:off x="8832342" y="3995547"/>
            <a:ext cx="105766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" name="AutoShape 23"/>
          <p:cNvSpPr/>
          <p:nvPr/>
        </p:nvSpPr>
        <p:spPr>
          <a:xfrm rot="92880">
            <a:off x="13221462" y="3995547"/>
            <a:ext cx="105766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24"/>
          <p:cNvSpPr/>
          <p:nvPr/>
        </p:nvSpPr>
        <p:spPr>
          <a:xfrm rot="5177100">
            <a:off x="15717498" y="4791075"/>
            <a:ext cx="440979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25"/>
          <p:cNvSpPr/>
          <p:nvPr/>
        </p:nvSpPr>
        <p:spPr>
          <a:xfrm rot="10792620">
            <a:off x="2591733" y="4996815"/>
            <a:ext cx="1336055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AutoShape 26"/>
          <p:cNvSpPr/>
          <p:nvPr/>
        </p:nvSpPr>
        <p:spPr>
          <a:xfrm rot="5177100">
            <a:off x="2385546" y="5202555"/>
            <a:ext cx="440979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7" name="Group 27"/>
          <p:cNvGrpSpPr/>
          <p:nvPr/>
        </p:nvGrpSpPr>
        <p:grpSpPr>
          <a:xfrm>
            <a:off x="1097280" y="5417820"/>
            <a:ext cx="3017520" cy="1234440"/>
            <a:chOff x="0" y="0"/>
            <a:chExt cx="4023360" cy="16459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60" h="164592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25875" y="0"/>
                  </a:lnTo>
                  <a:cubicBezTo>
                    <a:pt x="3934968" y="0"/>
                    <a:pt x="4023360" y="88392"/>
                    <a:pt x="4023360" y="197485"/>
                  </a:cubicBezTo>
                  <a:lnTo>
                    <a:pt x="4023360" y="1448435"/>
                  </a:lnTo>
                  <a:cubicBezTo>
                    <a:pt x="4023360" y="1557528"/>
                    <a:pt x="3934968" y="1645920"/>
                    <a:pt x="3825875" y="1645920"/>
                  </a:cubicBezTo>
                  <a:lnTo>
                    <a:pt x="197485" y="1645920"/>
                  </a:lnTo>
                  <a:cubicBezTo>
                    <a:pt x="88392" y="1645920"/>
                    <a:pt x="0" y="1557528"/>
                    <a:pt x="0" y="1448435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4023360" cy="1693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Compare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Candidate fixes + risk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663440" y="5417820"/>
            <a:ext cx="3017520" cy="1234440"/>
            <a:chOff x="0" y="0"/>
            <a:chExt cx="4023360" cy="16459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023360" cy="1645920"/>
            </a:xfrm>
            <a:custGeom>
              <a:avLst/>
              <a:gdLst/>
              <a:ahLst/>
              <a:cxnLst/>
              <a:rect l="l" t="t" r="r" b="b"/>
              <a:pathLst>
                <a:path w="4023360" h="164592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825875" y="0"/>
                  </a:lnTo>
                  <a:cubicBezTo>
                    <a:pt x="3934968" y="0"/>
                    <a:pt x="4023360" y="88392"/>
                    <a:pt x="4023360" y="197485"/>
                  </a:cubicBezTo>
                  <a:lnTo>
                    <a:pt x="4023360" y="1448435"/>
                  </a:lnTo>
                  <a:cubicBezTo>
                    <a:pt x="4023360" y="1557528"/>
                    <a:pt x="3934968" y="1645920"/>
                    <a:pt x="3825875" y="1645920"/>
                  </a:cubicBezTo>
                  <a:lnTo>
                    <a:pt x="197485" y="1645920"/>
                  </a:lnTo>
                  <a:cubicBezTo>
                    <a:pt x="88392" y="1645920"/>
                    <a:pt x="0" y="1557528"/>
                    <a:pt x="0" y="1448435"/>
                  </a:cubicBezTo>
                  <a:close/>
                </a:path>
              </a:pathLst>
            </a:custGeom>
            <a:solidFill>
              <a:srgbClr val="3A1F8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4023360" cy="1693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Simulate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Estimate kWh / CO₂e first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170040">
            <a:off x="4100160" y="6025515"/>
            <a:ext cx="577920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4" name="AutoShape 34"/>
          <p:cNvSpPr/>
          <p:nvPr/>
        </p:nvSpPr>
        <p:spPr>
          <a:xfrm rot="170040">
            <a:off x="7666320" y="6025515"/>
            <a:ext cx="577920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8229600" y="5143500"/>
            <a:ext cx="3291840" cy="1783080"/>
            <a:chOff x="0" y="0"/>
            <a:chExt cx="4389120" cy="23774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0" cy="2377440"/>
            </a:xfrm>
            <a:custGeom>
              <a:avLst/>
              <a:gdLst/>
              <a:ahLst/>
              <a:cxnLst/>
              <a:rect l="l" t="t" r="r" b="b"/>
              <a:pathLst>
                <a:path w="4389120" h="2377440">
                  <a:moveTo>
                    <a:pt x="0" y="1188720"/>
                  </a:moveTo>
                  <a:lnTo>
                    <a:pt x="2194560" y="0"/>
                  </a:lnTo>
                  <a:lnTo>
                    <a:pt x="4389120" y="1188720"/>
                  </a:lnTo>
                  <a:lnTo>
                    <a:pt x="2194560" y="2377440"/>
                  </a:lnTo>
                  <a:close/>
                </a:path>
              </a:pathLst>
            </a:custGeom>
            <a:solidFill>
              <a:srgbClr val="F5B34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4389120" cy="2425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Human approves?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137460">
            <a:off x="11506867" y="6025515"/>
            <a:ext cx="71494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11498580" y="5425440"/>
            <a:ext cx="73152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47D9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Yes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2207240" y="5417820"/>
            <a:ext cx="2468880" cy="1460897"/>
            <a:chOff x="0" y="0"/>
            <a:chExt cx="3291840" cy="194786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291840" cy="1947862"/>
            </a:xfrm>
            <a:custGeom>
              <a:avLst/>
              <a:gdLst/>
              <a:ahLst/>
              <a:cxnLst/>
              <a:rect l="l" t="t" r="r" b="b"/>
              <a:pathLst>
                <a:path w="3291840" h="1947862">
                  <a:moveTo>
                    <a:pt x="0" y="233713"/>
                  </a:moveTo>
                  <a:cubicBezTo>
                    <a:pt x="0" y="104607"/>
                    <a:pt x="88392" y="0"/>
                    <a:pt x="197485" y="0"/>
                  </a:cubicBezTo>
                  <a:lnTo>
                    <a:pt x="3094355" y="0"/>
                  </a:lnTo>
                  <a:cubicBezTo>
                    <a:pt x="3203448" y="0"/>
                    <a:pt x="3291840" y="104607"/>
                    <a:pt x="3291840" y="233713"/>
                  </a:cubicBezTo>
                  <a:lnTo>
                    <a:pt x="3291840" y="1714149"/>
                  </a:lnTo>
                  <a:cubicBezTo>
                    <a:pt x="3291840" y="1843255"/>
                    <a:pt x="3203448" y="1947862"/>
                    <a:pt x="3094355" y="1947862"/>
                  </a:cubicBezTo>
                  <a:lnTo>
                    <a:pt x="197485" y="1947862"/>
                  </a:lnTo>
                  <a:cubicBezTo>
                    <a:pt x="88392" y="1947862"/>
                    <a:pt x="0" y="1843255"/>
                    <a:pt x="0" y="1714149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3291840" cy="199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Improve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Sandboxed PR remediation (Prototype) | Direct cloud/K8s mutation (Production)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087600" y="5417820"/>
            <a:ext cx="2468880" cy="1234440"/>
            <a:chOff x="0" y="0"/>
            <a:chExt cx="3291840" cy="16459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91840" cy="1645920"/>
            </a:xfrm>
            <a:custGeom>
              <a:avLst/>
              <a:gdLst/>
              <a:ahLst/>
              <a:cxnLst/>
              <a:rect l="l" t="t" r="r" b="b"/>
              <a:pathLst>
                <a:path w="3291840" h="1645920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3094355" y="0"/>
                  </a:lnTo>
                  <a:cubicBezTo>
                    <a:pt x="3203448" y="0"/>
                    <a:pt x="3291840" y="88392"/>
                    <a:pt x="3291840" y="197485"/>
                  </a:cubicBezTo>
                  <a:lnTo>
                    <a:pt x="3291840" y="1448435"/>
                  </a:lnTo>
                  <a:cubicBezTo>
                    <a:pt x="3291840" y="1557528"/>
                    <a:pt x="3203448" y="1645920"/>
                    <a:pt x="3094355" y="1645920"/>
                  </a:cubicBezTo>
                  <a:lnTo>
                    <a:pt x="197485" y="1645920"/>
                  </a:lnTo>
                  <a:cubicBezTo>
                    <a:pt x="88392" y="1645920"/>
                    <a:pt x="0" y="1557528"/>
                    <a:pt x="0" y="1448435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3291840" cy="1693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Verify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Re-detect + hash check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 rot="222900">
            <a:off x="14661366" y="6025515"/>
            <a:ext cx="440979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7" name="AutoShape 47"/>
          <p:cNvSpPr/>
          <p:nvPr/>
        </p:nvSpPr>
        <p:spPr>
          <a:xfrm rot="5312760">
            <a:off x="9312412" y="7465695"/>
            <a:ext cx="1126217" cy="0"/>
          </a:xfrm>
          <a:prstGeom prst="line">
            <a:avLst/>
          </a:prstGeom>
          <a:ln w="19050" cap="rnd">
            <a:solidFill>
              <a:srgbClr val="F5B34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Box 48"/>
          <p:cNvSpPr txBox="1"/>
          <p:nvPr/>
        </p:nvSpPr>
        <p:spPr>
          <a:xfrm>
            <a:off x="10058400" y="7277100"/>
            <a:ext cx="29260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5B34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No: withheld, logged</a:t>
            </a:r>
          </a:p>
        </p:txBody>
      </p:sp>
      <p:sp>
        <p:nvSpPr>
          <p:cNvPr id="49" name="AutoShape 49"/>
          <p:cNvSpPr/>
          <p:nvPr/>
        </p:nvSpPr>
        <p:spPr>
          <a:xfrm rot="5329860">
            <a:off x="15621810" y="7328535"/>
            <a:ext cx="1400470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14036040" y="7139940"/>
            <a:ext cx="210312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80"/>
              </a:lnSpc>
            </a:pPr>
            <a:r>
              <a:rPr lang="en-US" sz="1650" b="1">
                <a:solidFill>
                  <a:srgbClr val="47D9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Measured delta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085374" y="8011954"/>
            <a:ext cx="10996612" cy="1326833"/>
            <a:chOff x="0" y="0"/>
            <a:chExt cx="14662150" cy="176911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4662150" cy="1769110"/>
            </a:xfrm>
            <a:custGeom>
              <a:avLst/>
              <a:gdLst/>
              <a:ahLst/>
              <a:cxnLst/>
              <a:rect l="l" t="t" r="r" b="b"/>
              <a:pathLst>
                <a:path w="14662150" h="1769110">
                  <a:moveTo>
                    <a:pt x="0" y="212344"/>
                  </a:moveTo>
                  <a:cubicBezTo>
                    <a:pt x="0" y="94996"/>
                    <a:pt x="94996" y="0"/>
                    <a:pt x="212344" y="0"/>
                  </a:cubicBezTo>
                  <a:lnTo>
                    <a:pt x="14449806" y="0"/>
                  </a:lnTo>
                  <a:cubicBezTo>
                    <a:pt x="14567027" y="0"/>
                    <a:pt x="14662150" y="94996"/>
                    <a:pt x="14662150" y="212344"/>
                  </a:cubicBezTo>
                  <a:lnTo>
                    <a:pt x="14662150" y="1556766"/>
                  </a:lnTo>
                  <a:cubicBezTo>
                    <a:pt x="14662150" y="1673987"/>
                    <a:pt x="14567154" y="1769110"/>
                    <a:pt x="14449806" y="1769110"/>
                  </a:cubicBezTo>
                  <a:lnTo>
                    <a:pt x="212344" y="1769110"/>
                  </a:lnTo>
                  <a:cubicBezTo>
                    <a:pt x="94996" y="1769110"/>
                    <a:pt x="0" y="1674114"/>
                    <a:pt x="0" y="1556766"/>
                  </a:cubicBezTo>
                  <a:close/>
                </a:path>
              </a:pathLst>
            </a:custGeom>
            <a:solidFill>
              <a:srgbClr val="1D1840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14662150" cy="1816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Sustainability Ledger (append-only)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D6D2EA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Every stage logged with baseline, assumptions, evidence</a:t>
              </a:r>
            </a:p>
          </p:txBody>
        </p:sp>
      </p:grpSp>
      <p:sp>
        <p:nvSpPr>
          <p:cNvPr id="54" name="AutoShape 54"/>
          <p:cNvSpPr/>
          <p:nvPr/>
        </p:nvSpPr>
        <p:spPr>
          <a:xfrm rot="137460">
            <a:off x="12055507" y="8658987"/>
            <a:ext cx="714946" cy="0"/>
          </a:xfrm>
          <a:prstGeom prst="line">
            <a:avLst/>
          </a:prstGeom>
          <a:ln w="19050" cap="rnd">
            <a:solidFill>
              <a:srgbClr val="47D9AD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55" name="Group 55"/>
          <p:cNvGrpSpPr/>
          <p:nvPr/>
        </p:nvGrpSpPr>
        <p:grpSpPr>
          <a:xfrm>
            <a:off x="12755880" y="8023860"/>
            <a:ext cx="4937760" cy="1303020"/>
            <a:chOff x="0" y="0"/>
            <a:chExt cx="6583680" cy="173736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583680" cy="1737360"/>
            </a:xfrm>
            <a:custGeom>
              <a:avLst/>
              <a:gdLst/>
              <a:ahLst/>
              <a:cxnLst/>
              <a:rect l="l" t="t" r="r" b="b"/>
              <a:pathLst>
                <a:path w="6583680" h="1737360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6375146" y="0"/>
                  </a:lnTo>
                  <a:cubicBezTo>
                    <a:pt x="6490335" y="0"/>
                    <a:pt x="6583680" y="93345"/>
                    <a:pt x="6583680" y="208534"/>
                  </a:cubicBezTo>
                  <a:lnTo>
                    <a:pt x="6583680" y="1528826"/>
                  </a:lnTo>
                  <a:cubicBezTo>
                    <a:pt x="6583680" y="1644015"/>
                    <a:pt x="6490335" y="1737360"/>
                    <a:pt x="6375146" y="1737360"/>
                  </a:cubicBezTo>
                  <a:lnTo>
                    <a:pt x="208534" y="1737360"/>
                  </a:lnTo>
                  <a:cubicBezTo>
                    <a:pt x="93345" y="1737360"/>
                    <a:pt x="0" y="1644015"/>
                    <a:pt x="0" y="1528826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6583680" cy="1784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Net savings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Estimated savings − GreenOps self-cost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43000" y="9471660"/>
            <a:ext cx="1568196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Amber = human gate  |  Observed: before/after analysis  |  Estimated: kWh, CO₂e conversions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" b="-4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254728" y="406908"/>
            <a:ext cx="649224" cy="530352"/>
            <a:chOff x="0" y="0"/>
            <a:chExt cx="865632" cy="7071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93840" y="1130560"/>
            <a:ext cx="17520285" cy="8676322"/>
            <a:chOff x="0" y="0"/>
            <a:chExt cx="23360380" cy="115684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59111" cy="11567160"/>
            </a:xfrm>
            <a:custGeom>
              <a:avLst/>
              <a:gdLst/>
              <a:ahLst/>
              <a:cxnLst/>
              <a:rect l="l" t="t" r="r" b="b"/>
              <a:pathLst>
                <a:path w="23359111" h="11567160">
                  <a:moveTo>
                    <a:pt x="23359111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359111" y="11567160"/>
                  </a:lnTo>
                  <a:lnTo>
                    <a:pt x="23359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1540" y="1303020"/>
            <a:ext cx="16459200" cy="891540"/>
            <a:chOff x="0" y="0"/>
            <a:chExt cx="21945600" cy="1188720"/>
          </a:xfrm>
        </p:grpSpPr>
        <p:sp>
          <p:nvSpPr>
            <p:cNvPr id="9" name="Freeform 9" descr="$PPTXTitle"/>
            <p:cNvSpPr/>
            <p:nvPr/>
          </p:nvSpPr>
          <p:spPr>
            <a:xfrm>
              <a:off x="0" y="0"/>
              <a:ext cx="21945600" cy="1188720"/>
            </a:xfrm>
            <a:custGeom>
              <a:avLst/>
              <a:gdLst/>
              <a:ahLst/>
              <a:cxnLst/>
              <a:rect l="l" t="t" r="r" b="b"/>
              <a:pathLst>
                <a:path w="21945600" h="118872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9723" b="-309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4"/>
                </a:lnSpc>
              </a:pPr>
              <a:r>
                <a:rPr lang="en-US" sz="4500">
                  <a:solidFill>
                    <a:srgbClr val="1A1A2E"/>
                  </a:solidFill>
                  <a:latin typeface="Arimo"/>
                  <a:ea typeface="Arimo"/>
                  <a:cs typeface="Arimo"/>
                  <a:sym typeface="Arimo"/>
                </a:rPr>
                <a:t>Tech </a:t>
              </a:r>
              <a:r>
                <a:rPr lang="en-US" sz="4500" b="1">
                  <a:solidFill>
                    <a:srgbClr val="2FC99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Stack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540" y="2743200"/>
            <a:ext cx="16459200" cy="822960"/>
            <a:chOff x="0" y="0"/>
            <a:chExt cx="2194560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945600" cy="1097280"/>
            </a:xfrm>
            <a:custGeom>
              <a:avLst/>
              <a:gdLst/>
              <a:ahLst/>
              <a:cxnLst/>
              <a:rect l="l" t="t" r="r" b="b"/>
              <a:pathLst>
                <a:path w="21945600" h="1097280">
                  <a:moveTo>
                    <a:pt x="0" y="87757"/>
                  </a:moveTo>
                  <a:cubicBezTo>
                    <a:pt x="0" y="39243"/>
                    <a:pt x="39243" y="0"/>
                    <a:pt x="87757" y="0"/>
                  </a:cubicBezTo>
                  <a:lnTo>
                    <a:pt x="21857843" y="0"/>
                  </a:lnTo>
                  <a:cubicBezTo>
                    <a:pt x="21906356" y="0"/>
                    <a:pt x="21945600" y="39243"/>
                    <a:pt x="21945600" y="87757"/>
                  </a:cubicBezTo>
                  <a:lnTo>
                    <a:pt x="21945600" y="1009523"/>
                  </a:lnTo>
                  <a:cubicBezTo>
                    <a:pt x="21945600" y="1058037"/>
                    <a:pt x="21906356" y="1097280"/>
                    <a:pt x="21857843" y="1097280"/>
                  </a:cubicBezTo>
                  <a:lnTo>
                    <a:pt x="87757" y="1097280"/>
                  </a:lnTo>
                  <a:cubicBezTo>
                    <a:pt x="39243" y="1097280"/>
                    <a:pt x="0" y="1058037"/>
                    <a:pt x="0" y="1009523"/>
                  </a:cubicBezTo>
                  <a:close/>
                </a:path>
              </a:pathLst>
            </a:custGeom>
            <a:solidFill>
              <a:srgbClr val="1412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1945600" cy="1144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FOUNDATION          Language: </a:t>
              </a:r>
              <a:r>
                <a:rPr lang="en-US" sz="22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TypeScript</a:t>
              </a:r>
              <a:r>
                <a:rPr lang="en-US" sz="225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        Runtime: </a:t>
              </a:r>
              <a:r>
                <a:rPr lang="en-US" sz="225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Node.js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1540" y="3840480"/>
            <a:ext cx="3977640" cy="754380"/>
            <a:chOff x="0" y="0"/>
            <a:chExt cx="5303520" cy="10058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5223002" y="0"/>
                  </a:lnTo>
                  <a:cubicBezTo>
                    <a:pt x="5267452" y="0"/>
                    <a:pt x="5303520" y="36068"/>
                    <a:pt x="5303520" y="80518"/>
                  </a:cubicBezTo>
                  <a:lnTo>
                    <a:pt x="5303520" y="925322"/>
                  </a:lnTo>
                  <a:cubicBezTo>
                    <a:pt x="5303520" y="969772"/>
                    <a:pt x="5267452" y="1005840"/>
                    <a:pt x="5223002" y="1005840"/>
                  </a:cubicBezTo>
                  <a:lnTo>
                    <a:pt x="80518" y="1005840"/>
                  </a:lnTo>
                  <a:cubicBezTo>
                    <a:pt x="36068" y="1005840"/>
                    <a:pt x="0" y="969772"/>
                    <a:pt x="0" y="925322"/>
                  </a:cubicBezTo>
                  <a:close/>
                </a:path>
              </a:pathLst>
            </a:custGeom>
            <a:solidFill>
              <a:srgbClr val="1412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5303520" cy="1053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AI and tools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540" y="4663440"/>
            <a:ext cx="3977640" cy="4800600"/>
            <a:chOff x="0" y="0"/>
            <a:chExt cx="5303520" cy="640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03520" cy="6400800"/>
            </a:xfrm>
            <a:custGeom>
              <a:avLst/>
              <a:gdLst/>
              <a:ahLst/>
              <a:cxnLst/>
              <a:rect l="l" t="t" r="r" b="b"/>
              <a:pathLst>
                <a:path w="5303520" h="6400800">
                  <a:moveTo>
                    <a:pt x="0" y="424307"/>
                  </a:moveTo>
                  <a:cubicBezTo>
                    <a:pt x="0" y="189992"/>
                    <a:pt x="189992" y="0"/>
                    <a:pt x="424307" y="0"/>
                  </a:cubicBezTo>
                  <a:lnTo>
                    <a:pt x="4879213" y="0"/>
                  </a:lnTo>
                  <a:cubicBezTo>
                    <a:pt x="5113528" y="0"/>
                    <a:pt x="5303520" y="189992"/>
                    <a:pt x="5303520" y="424307"/>
                  </a:cubicBezTo>
                  <a:lnTo>
                    <a:pt x="5303520" y="5976493"/>
                  </a:lnTo>
                  <a:cubicBezTo>
                    <a:pt x="5303520" y="6210808"/>
                    <a:pt x="5113528" y="6400800"/>
                    <a:pt x="4879213" y="6400800"/>
                  </a:cubicBezTo>
                  <a:lnTo>
                    <a:pt x="424307" y="6400800"/>
                  </a:lnTo>
                  <a:cubicBezTo>
                    <a:pt x="189992" y="6400800"/>
                    <a:pt x="0" y="6210808"/>
                    <a:pt x="0" y="5976493"/>
                  </a:cubicBez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01852" y="4789551"/>
            <a:ext cx="3557016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orchestration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Custom TypeScript orchestrator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1852" y="6325743"/>
            <a:ext cx="35570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LLM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Gemini 3.5 Flash via the native Gemini API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1852" y="7852410"/>
            <a:ext cx="355701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Tool integration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MCP TypeScript SDK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074920" y="3840480"/>
            <a:ext cx="3977640" cy="754380"/>
            <a:chOff x="0" y="0"/>
            <a:chExt cx="5303520" cy="10058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5223002" y="0"/>
                  </a:lnTo>
                  <a:cubicBezTo>
                    <a:pt x="5267452" y="0"/>
                    <a:pt x="5303520" y="36068"/>
                    <a:pt x="5303520" y="80518"/>
                  </a:cubicBezTo>
                  <a:lnTo>
                    <a:pt x="5303520" y="925322"/>
                  </a:lnTo>
                  <a:cubicBezTo>
                    <a:pt x="5303520" y="969772"/>
                    <a:pt x="5267452" y="1005840"/>
                    <a:pt x="5223002" y="1005840"/>
                  </a:cubicBezTo>
                  <a:lnTo>
                    <a:pt x="80518" y="1005840"/>
                  </a:lnTo>
                  <a:cubicBezTo>
                    <a:pt x="36068" y="1005840"/>
                    <a:pt x="0" y="969772"/>
                    <a:pt x="0" y="925322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5303520" cy="1053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Analysis and audit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074920" y="4663440"/>
            <a:ext cx="3977640" cy="4800600"/>
            <a:chOff x="0" y="0"/>
            <a:chExt cx="5303520" cy="6400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303520" cy="6400800"/>
            </a:xfrm>
            <a:custGeom>
              <a:avLst/>
              <a:gdLst/>
              <a:ahLst/>
              <a:cxnLst/>
              <a:rect l="l" t="t" r="r" b="b"/>
              <a:pathLst>
                <a:path w="5303520" h="6400800">
                  <a:moveTo>
                    <a:pt x="0" y="424307"/>
                  </a:moveTo>
                  <a:cubicBezTo>
                    <a:pt x="0" y="189992"/>
                    <a:pt x="189992" y="0"/>
                    <a:pt x="424307" y="0"/>
                  </a:cubicBezTo>
                  <a:lnTo>
                    <a:pt x="4879213" y="0"/>
                  </a:lnTo>
                  <a:cubicBezTo>
                    <a:pt x="5113528" y="0"/>
                    <a:pt x="5303520" y="189992"/>
                    <a:pt x="5303520" y="424307"/>
                  </a:cubicBezTo>
                  <a:lnTo>
                    <a:pt x="5303520" y="5976493"/>
                  </a:lnTo>
                  <a:cubicBezTo>
                    <a:pt x="5303520" y="6210808"/>
                    <a:pt x="5113528" y="6400800"/>
                    <a:pt x="4879213" y="6400800"/>
                  </a:cubicBezTo>
                  <a:lnTo>
                    <a:pt x="424307" y="6400800"/>
                  </a:lnTo>
                  <a:cubicBezTo>
                    <a:pt x="189992" y="6400800"/>
                    <a:pt x="0" y="6210808"/>
                    <a:pt x="0" y="5976493"/>
                  </a:cubicBez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285232" y="4780026"/>
            <a:ext cx="355701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Code analysis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Tree-sitter, dependency and symbol analysis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94757" y="6325743"/>
            <a:ext cx="3557016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Sustainability measurement</a:t>
            </a:r>
          </a:p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GreenOps measurement engine, SCI calculator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85232" y="7861935"/>
            <a:ext cx="355701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Audit storage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Local JSON ledger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258300" y="3840480"/>
            <a:ext cx="3977640" cy="754380"/>
            <a:chOff x="0" y="0"/>
            <a:chExt cx="5303520" cy="10058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5223002" y="0"/>
                  </a:lnTo>
                  <a:cubicBezTo>
                    <a:pt x="5267452" y="0"/>
                    <a:pt x="5303520" y="36068"/>
                    <a:pt x="5303520" y="80518"/>
                  </a:cubicBezTo>
                  <a:lnTo>
                    <a:pt x="5303520" y="925322"/>
                  </a:lnTo>
                  <a:cubicBezTo>
                    <a:pt x="5303520" y="969772"/>
                    <a:pt x="5267452" y="1005840"/>
                    <a:pt x="5223002" y="1005840"/>
                  </a:cubicBezTo>
                  <a:lnTo>
                    <a:pt x="80518" y="1005840"/>
                  </a:lnTo>
                  <a:cubicBezTo>
                    <a:pt x="36068" y="1005840"/>
                    <a:pt x="0" y="969772"/>
                    <a:pt x="0" y="925322"/>
                  </a:cubicBezTo>
                  <a:close/>
                </a:path>
              </a:pathLst>
            </a:custGeom>
            <a:solidFill>
              <a:srgbClr val="2A9D7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5303520" cy="1053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Interfaces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58300" y="4663440"/>
            <a:ext cx="3977640" cy="4800600"/>
            <a:chOff x="0" y="0"/>
            <a:chExt cx="5303520" cy="6400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303520" cy="6400800"/>
            </a:xfrm>
            <a:custGeom>
              <a:avLst/>
              <a:gdLst/>
              <a:ahLst/>
              <a:cxnLst/>
              <a:rect l="l" t="t" r="r" b="b"/>
              <a:pathLst>
                <a:path w="5303520" h="6400800">
                  <a:moveTo>
                    <a:pt x="0" y="424307"/>
                  </a:moveTo>
                  <a:cubicBezTo>
                    <a:pt x="0" y="189992"/>
                    <a:pt x="189992" y="0"/>
                    <a:pt x="424307" y="0"/>
                  </a:cubicBezTo>
                  <a:lnTo>
                    <a:pt x="4879213" y="0"/>
                  </a:lnTo>
                  <a:cubicBezTo>
                    <a:pt x="5113528" y="0"/>
                    <a:pt x="5303520" y="189992"/>
                    <a:pt x="5303520" y="424307"/>
                  </a:cubicBezTo>
                  <a:lnTo>
                    <a:pt x="5303520" y="5976493"/>
                  </a:lnTo>
                  <a:cubicBezTo>
                    <a:pt x="5303520" y="6210808"/>
                    <a:pt x="5113528" y="6400800"/>
                    <a:pt x="4879213" y="6400800"/>
                  </a:cubicBezTo>
                  <a:lnTo>
                    <a:pt x="424307" y="6400800"/>
                  </a:lnTo>
                  <a:cubicBezTo>
                    <a:pt x="189992" y="6400800"/>
                    <a:pt x="0" y="6210808"/>
                    <a:pt x="0" y="5976493"/>
                  </a:cubicBez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468612" y="4789551"/>
            <a:ext cx="3557016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Developer integration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GreenOps CLI, GitHub App and webhooks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68612" y="6325743"/>
            <a:ext cx="355701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Next.js 16, React 19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68612" y="7861935"/>
            <a:ext cx="35570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UI and styling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CSS Modules, Tailwind CSS, Lucide, Framer Motion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3441680" y="3840480"/>
            <a:ext cx="3977640" cy="754380"/>
            <a:chOff x="0" y="0"/>
            <a:chExt cx="5303520" cy="1005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303520" cy="1005840"/>
            </a:xfrm>
            <a:custGeom>
              <a:avLst/>
              <a:gdLst/>
              <a:ahLst/>
              <a:cxnLst/>
              <a:rect l="l" t="t" r="r" b="b"/>
              <a:pathLst>
                <a:path w="5303520" h="1005840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5223002" y="0"/>
                  </a:lnTo>
                  <a:cubicBezTo>
                    <a:pt x="5267452" y="0"/>
                    <a:pt x="5303520" y="36068"/>
                    <a:pt x="5303520" y="80518"/>
                  </a:cubicBezTo>
                  <a:lnTo>
                    <a:pt x="5303520" y="925322"/>
                  </a:lnTo>
                  <a:cubicBezTo>
                    <a:pt x="5303520" y="969772"/>
                    <a:pt x="5267452" y="1005840"/>
                    <a:pt x="5223002" y="1005840"/>
                  </a:cubicBezTo>
                  <a:lnTo>
                    <a:pt x="80518" y="1005840"/>
                  </a:lnTo>
                  <a:cubicBezTo>
                    <a:pt x="36068" y="1005840"/>
                    <a:pt x="0" y="969772"/>
                    <a:pt x="0" y="925322"/>
                  </a:cubicBezTo>
                  <a:close/>
                </a:path>
              </a:pathLst>
            </a:custGeom>
            <a:solidFill>
              <a:srgbClr val="1D5C5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5303520" cy="1053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Engineering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441680" y="4663440"/>
            <a:ext cx="3977640" cy="4800600"/>
            <a:chOff x="0" y="0"/>
            <a:chExt cx="5303520" cy="6400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303520" cy="6400800"/>
            </a:xfrm>
            <a:custGeom>
              <a:avLst/>
              <a:gdLst/>
              <a:ahLst/>
              <a:cxnLst/>
              <a:rect l="l" t="t" r="r" b="b"/>
              <a:pathLst>
                <a:path w="5303520" h="6400800">
                  <a:moveTo>
                    <a:pt x="0" y="424307"/>
                  </a:moveTo>
                  <a:cubicBezTo>
                    <a:pt x="0" y="189992"/>
                    <a:pt x="189992" y="0"/>
                    <a:pt x="424307" y="0"/>
                  </a:cubicBezTo>
                  <a:lnTo>
                    <a:pt x="4879213" y="0"/>
                  </a:lnTo>
                  <a:cubicBezTo>
                    <a:pt x="5113528" y="0"/>
                    <a:pt x="5303520" y="189992"/>
                    <a:pt x="5303520" y="424307"/>
                  </a:cubicBezTo>
                  <a:lnTo>
                    <a:pt x="5303520" y="5976493"/>
                  </a:lnTo>
                  <a:cubicBezTo>
                    <a:pt x="5303520" y="6210808"/>
                    <a:pt x="5113528" y="6400800"/>
                    <a:pt x="4879213" y="6400800"/>
                  </a:cubicBezTo>
                  <a:lnTo>
                    <a:pt x="424307" y="6400800"/>
                  </a:lnTo>
                  <a:cubicBezTo>
                    <a:pt x="189992" y="6400800"/>
                    <a:pt x="0" y="6210808"/>
                    <a:pt x="0" y="5976493"/>
                  </a:cubicBez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3651992" y="4789551"/>
            <a:ext cx="355701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Build and packages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pnpm, Turborepo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651992" y="6316218"/>
            <a:ext cx="355701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Testing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Vitest, Jest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651992" y="7852410"/>
            <a:ext cx="3557016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5A3E9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Code quality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1A1A2E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TypeScript checks, ESLint, Prettier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3875" y="54953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8792A4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4" b="-4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254728" y="406908"/>
            <a:ext cx="649224" cy="530352"/>
            <a:chOff x="0" y="0"/>
            <a:chExt cx="865632" cy="7071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84315" y="1130560"/>
            <a:ext cx="17520285" cy="8676322"/>
            <a:chOff x="0" y="0"/>
            <a:chExt cx="23360380" cy="115684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359111" cy="11567160"/>
            </a:xfrm>
            <a:custGeom>
              <a:avLst/>
              <a:gdLst/>
              <a:ahLst/>
              <a:cxnLst/>
              <a:rect l="l" t="t" r="r" b="b"/>
              <a:pathLst>
                <a:path w="23359111" h="11567160">
                  <a:moveTo>
                    <a:pt x="23359111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359111" y="11567160"/>
                  </a:lnTo>
                  <a:lnTo>
                    <a:pt x="23359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1540" y="1303020"/>
            <a:ext cx="16459200" cy="891540"/>
            <a:chOff x="0" y="0"/>
            <a:chExt cx="21945600" cy="1188720"/>
          </a:xfrm>
        </p:grpSpPr>
        <p:sp>
          <p:nvSpPr>
            <p:cNvPr id="9" name="Freeform 9" descr="$PPTXTitle"/>
            <p:cNvSpPr/>
            <p:nvPr/>
          </p:nvSpPr>
          <p:spPr>
            <a:xfrm>
              <a:off x="0" y="0"/>
              <a:ext cx="21945600" cy="1188720"/>
            </a:xfrm>
            <a:custGeom>
              <a:avLst/>
              <a:gdLst/>
              <a:ahLst/>
              <a:cxnLst/>
              <a:rect l="l" t="t" r="r" b="b"/>
              <a:pathLst>
                <a:path w="21945600" h="1188720">
                  <a:moveTo>
                    <a:pt x="0" y="0"/>
                  </a:moveTo>
                  <a:lnTo>
                    <a:pt x="21945600" y="0"/>
                  </a:lnTo>
                  <a:lnTo>
                    <a:pt x="219456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9723" b="-30972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1945600" cy="12363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4"/>
                </a:lnSpc>
              </a:pPr>
              <a:r>
                <a:rPr lang="en-US" sz="4500">
                  <a:solidFill>
                    <a:srgbClr val="1A1A2E"/>
                  </a:solidFill>
                  <a:latin typeface="Arimo"/>
                  <a:ea typeface="Arimo"/>
                  <a:cs typeface="Arimo"/>
                  <a:sym typeface="Arimo"/>
                </a:rPr>
                <a:t>System </a:t>
              </a:r>
              <a:r>
                <a:rPr lang="en-US" sz="4500" b="1">
                  <a:solidFill>
                    <a:srgbClr val="2FC99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Architecture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46133" y="2660333"/>
            <a:ext cx="2428875" cy="467487"/>
            <a:chOff x="0" y="0"/>
            <a:chExt cx="3238500" cy="6233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38500" cy="623316"/>
            </a:xfrm>
            <a:custGeom>
              <a:avLst/>
              <a:gdLst/>
              <a:ahLst/>
              <a:cxnLst/>
              <a:rect l="l" t="t" r="r" b="b"/>
              <a:pathLst>
                <a:path w="3238500" h="623316">
                  <a:moveTo>
                    <a:pt x="0" y="49911"/>
                  </a:moveTo>
                  <a:cubicBezTo>
                    <a:pt x="0" y="22352"/>
                    <a:pt x="22352" y="0"/>
                    <a:pt x="49911" y="0"/>
                  </a:cubicBezTo>
                  <a:lnTo>
                    <a:pt x="3188589" y="0"/>
                  </a:lnTo>
                  <a:cubicBezTo>
                    <a:pt x="3216148" y="0"/>
                    <a:pt x="3238500" y="22352"/>
                    <a:pt x="3238500" y="49911"/>
                  </a:cubicBezTo>
                  <a:lnTo>
                    <a:pt x="3238500" y="573405"/>
                  </a:lnTo>
                  <a:cubicBezTo>
                    <a:pt x="3238500" y="600964"/>
                    <a:pt x="3216148" y="623316"/>
                    <a:pt x="3188589" y="623316"/>
                  </a:cubicBezTo>
                  <a:lnTo>
                    <a:pt x="49911" y="623316"/>
                  </a:lnTo>
                  <a:cubicBezTo>
                    <a:pt x="22352" y="623316"/>
                    <a:pt x="0" y="600964"/>
                    <a:pt x="0" y="57340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B607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238500" cy="651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2E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Developer machine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83592" y="2660333"/>
            <a:ext cx="2428875" cy="467487"/>
            <a:chOff x="0" y="0"/>
            <a:chExt cx="3238500" cy="6233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38500" cy="623316"/>
            </a:xfrm>
            <a:custGeom>
              <a:avLst/>
              <a:gdLst/>
              <a:ahLst/>
              <a:cxnLst/>
              <a:rect l="l" t="t" r="r" b="b"/>
              <a:pathLst>
                <a:path w="3238500" h="623316">
                  <a:moveTo>
                    <a:pt x="0" y="49911"/>
                  </a:moveTo>
                  <a:cubicBezTo>
                    <a:pt x="0" y="22352"/>
                    <a:pt x="22352" y="0"/>
                    <a:pt x="49911" y="0"/>
                  </a:cubicBezTo>
                  <a:lnTo>
                    <a:pt x="3188589" y="0"/>
                  </a:lnTo>
                  <a:cubicBezTo>
                    <a:pt x="3216148" y="0"/>
                    <a:pt x="3238500" y="22352"/>
                    <a:pt x="3238500" y="49911"/>
                  </a:cubicBezTo>
                  <a:lnTo>
                    <a:pt x="3238500" y="573405"/>
                  </a:lnTo>
                  <a:cubicBezTo>
                    <a:pt x="3238500" y="600964"/>
                    <a:pt x="3216148" y="623316"/>
                    <a:pt x="3188589" y="623316"/>
                  </a:cubicBezTo>
                  <a:lnTo>
                    <a:pt x="49911" y="623316"/>
                  </a:lnTo>
                  <a:cubicBezTo>
                    <a:pt x="22352" y="623316"/>
                    <a:pt x="0" y="600964"/>
                    <a:pt x="0" y="57340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B607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3238500" cy="651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2E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GitHub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21052" y="2660333"/>
            <a:ext cx="2428875" cy="467487"/>
            <a:chOff x="0" y="0"/>
            <a:chExt cx="3238500" cy="6233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38500" cy="623316"/>
            </a:xfrm>
            <a:custGeom>
              <a:avLst/>
              <a:gdLst/>
              <a:ahLst/>
              <a:cxnLst/>
              <a:rect l="l" t="t" r="r" b="b"/>
              <a:pathLst>
                <a:path w="3238500" h="623316">
                  <a:moveTo>
                    <a:pt x="0" y="49911"/>
                  </a:moveTo>
                  <a:cubicBezTo>
                    <a:pt x="0" y="22352"/>
                    <a:pt x="22352" y="0"/>
                    <a:pt x="49911" y="0"/>
                  </a:cubicBezTo>
                  <a:lnTo>
                    <a:pt x="3188589" y="0"/>
                  </a:lnTo>
                  <a:cubicBezTo>
                    <a:pt x="3216148" y="0"/>
                    <a:pt x="3238500" y="22352"/>
                    <a:pt x="3238500" y="49911"/>
                  </a:cubicBezTo>
                  <a:lnTo>
                    <a:pt x="3238500" y="573405"/>
                  </a:lnTo>
                  <a:cubicBezTo>
                    <a:pt x="3238500" y="600964"/>
                    <a:pt x="3216148" y="623316"/>
                    <a:pt x="3188589" y="623316"/>
                  </a:cubicBezTo>
                  <a:lnTo>
                    <a:pt x="49911" y="623316"/>
                  </a:lnTo>
                  <a:cubicBezTo>
                    <a:pt x="22352" y="623316"/>
                    <a:pt x="0" y="600964"/>
                    <a:pt x="0" y="57340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B607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238500" cy="651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2E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MCP client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58512" y="2660333"/>
            <a:ext cx="2428875" cy="467487"/>
            <a:chOff x="0" y="0"/>
            <a:chExt cx="3238500" cy="6233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238500" cy="623316"/>
            </a:xfrm>
            <a:custGeom>
              <a:avLst/>
              <a:gdLst/>
              <a:ahLst/>
              <a:cxnLst/>
              <a:rect l="l" t="t" r="r" b="b"/>
              <a:pathLst>
                <a:path w="3238500" h="623316">
                  <a:moveTo>
                    <a:pt x="0" y="49911"/>
                  </a:moveTo>
                  <a:cubicBezTo>
                    <a:pt x="0" y="22352"/>
                    <a:pt x="22352" y="0"/>
                    <a:pt x="49911" y="0"/>
                  </a:cubicBezTo>
                  <a:lnTo>
                    <a:pt x="3188589" y="0"/>
                  </a:lnTo>
                  <a:cubicBezTo>
                    <a:pt x="3216148" y="0"/>
                    <a:pt x="3238500" y="22352"/>
                    <a:pt x="3238500" y="49911"/>
                  </a:cubicBezTo>
                  <a:lnTo>
                    <a:pt x="3238500" y="573405"/>
                  </a:lnTo>
                  <a:cubicBezTo>
                    <a:pt x="3238500" y="600964"/>
                    <a:pt x="3216148" y="623316"/>
                    <a:pt x="3188589" y="623316"/>
                  </a:cubicBezTo>
                  <a:lnTo>
                    <a:pt x="49911" y="623316"/>
                  </a:lnTo>
                  <a:cubicBezTo>
                    <a:pt x="22352" y="623316"/>
                    <a:pt x="0" y="600964"/>
                    <a:pt x="0" y="57340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B607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3238500" cy="651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1A1A2E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Web browser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1540" y="3291840"/>
            <a:ext cx="2331720" cy="932688"/>
            <a:chOff x="0" y="0"/>
            <a:chExt cx="3108960" cy="12435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01  Interfaces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60420" y="3291840"/>
            <a:ext cx="10012680" cy="932688"/>
            <a:chOff x="0" y="0"/>
            <a:chExt cx="13350240" cy="124358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88055" y="3350895"/>
            <a:ext cx="2350770" cy="814578"/>
            <a:chOff x="0" y="0"/>
            <a:chExt cx="3134360" cy="108610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34360" cy="1086104"/>
            </a:xfrm>
            <a:custGeom>
              <a:avLst/>
              <a:gdLst/>
              <a:ahLst/>
              <a:cxnLst/>
              <a:rect l="l" t="t" r="r" b="b"/>
              <a:pathLst>
                <a:path w="313436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38862"/>
                    <a:pt x="3134360" y="86868"/>
                  </a:cubicBezTo>
                  <a:lnTo>
                    <a:pt x="3134360" y="999236"/>
                  </a:lnTo>
                  <a:cubicBezTo>
                    <a:pt x="3134360" y="1047242"/>
                    <a:pt x="3095498" y="1086104"/>
                    <a:pt x="304749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134360" cy="1124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18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CLI</a:t>
              </a:r>
            </a:p>
            <a:p>
              <a:pPr algn="ctr">
                <a:lnSpc>
                  <a:spcPts val="1979"/>
                </a:lnSpc>
              </a:pPr>
              <a:r>
                <a:rPr lang="en-US" sz="16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scan, review, run, ledger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56935" y="3350895"/>
            <a:ext cx="2350770" cy="1003165"/>
            <a:chOff x="0" y="0"/>
            <a:chExt cx="3134360" cy="13375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134360" cy="1337553"/>
            </a:xfrm>
            <a:custGeom>
              <a:avLst/>
              <a:gdLst/>
              <a:ahLst/>
              <a:cxnLst/>
              <a:rect l="l" t="t" r="r" b="b"/>
              <a:pathLst>
                <a:path w="3134360" h="1337553">
                  <a:moveTo>
                    <a:pt x="0" y="106979"/>
                  </a:moveTo>
                  <a:cubicBezTo>
                    <a:pt x="0" y="47859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47859"/>
                    <a:pt x="3134360" y="106979"/>
                  </a:cubicBezTo>
                  <a:lnTo>
                    <a:pt x="3134360" y="1230574"/>
                  </a:lnTo>
                  <a:cubicBezTo>
                    <a:pt x="3134360" y="1289694"/>
                    <a:pt x="3095498" y="1337553"/>
                    <a:pt x="3047492" y="1337553"/>
                  </a:cubicBezTo>
                  <a:lnTo>
                    <a:pt x="86868" y="1337553"/>
                  </a:lnTo>
                  <a:cubicBezTo>
                    <a:pt x="38862" y="1337553"/>
                    <a:pt x="0" y="1289694"/>
                    <a:pt x="0" y="1230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134360" cy="13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GitHub App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 webhooks, check runs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425815" y="3350895"/>
            <a:ext cx="2350770" cy="814578"/>
            <a:chOff x="0" y="0"/>
            <a:chExt cx="3134360" cy="10861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34360" cy="1086104"/>
            </a:xfrm>
            <a:custGeom>
              <a:avLst/>
              <a:gdLst/>
              <a:ahLst/>
              <a:cxnLst/>
              <a:rect l="l" t="t" r="r" b="b"/>
              <a:pathLst>
                <a:path w="313436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38862"/>
                    <a:pt x="3134360" y="86868"/>
                  </a:cubicBezTo>
                  <a:lnTo>
                    <a:pt x="3134360" y="999236"/>
                  </a:lnTo>
                  <a:cubicBezTo>
                    <a:pt x="3134360" y="1047242"/>
                    <a:pt x="3095498" y="1086104"/>
                    <a:pt x="304749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3134360" cy="1124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MCP server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10 tools, stdio / SSE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894695" y="3350895"/>
            <a:ext cx="2350770" cy="814578"/>
            <a:chOff x="0" y="0"/>
            <a:chExt cx="3134360" cy="108610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134360" cy="1086104"/>
            </a:xfrm>
            <a:custGeom>
              <a:avLst/>
              <a:gdLst/>
              <a:ahLst/>
              <a:cxnLst/>
              <a:rect l="l" t="t" r="r" b="b"/>
              <a:pathLst>
                <a:path w="313436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38862"/>
                    <a:pt x="3134360" y="86868"/>
                  </a:cubicBezTo>
                  <a:lnTo>
                    <a:pt x="3134360" y="999236"/>
                  </a:lnTo>
                  <a:cubicBezTo>
                    <a:pt x="3134360" y="1047242"/>
                    <a:pt x="3095498" y="1086104"/>
                    <a:pt x="304749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134360" cy="1124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Web dashboard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Next.js 16, SCI metrics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91540" y="4306824"/>
            <a:ext cx="2331720" cy="932688"/>
            <a:chOff x="0" y="0"/>
            <a:chExt cx="3108960" cy="12435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19"/>
                </a:lnSpc>
              </a:pPr>
              <a:r>
                <a:rPr lang="en-US" sz="20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02  Static analysis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360420" y="4306824"/>
            <a:ext cx="10012680" cy="932688"/>
            <a:chOff x="0" y="0"/>
            <a:chExt cx="13350240" cy="1243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88055" y="4365879"/>
            <a:ext cx="3173730" cy="814578"/>
            <a:chOff x="0" y="0"/>
            <a:chExt cx="4231640" cy="108610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231640" cy="1086104"/>
            </a:xfrm>
            <a:custGeom>
              <a:avLst/>
              <a:gdLst/>
              <a:ahLst/>
              <a:cxnLst/>
              <a:rect l="l" t="t" r="r" b="b"/>
              <a:pathLst>
                <a:path w="423164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38862"/>
                    <a:pt x="4231640" y="86868"/>
                  </a:cubicBezTo>
                  <a:lnTo>
                    <a:pt x="4231640" y="999236"/>
                  </a:lnTo>
                  <a:cubicBezTo>
                    <a:pt x="4231640" y="1047242"/>
                    <a:pt x="4192778" y="1086104"/>
                    <a:pt x="414477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4231640" cy="1133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Sandbox PR isolator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changed files only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79895" y="4365879"/>
            <a:ext cx="3173730" cy="814578"/>
            <a:chOff x="0" y="0"/>
            <a:chExt cx="4231640" cy="10861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231640" cy="1086104"/>
            </a:xfrm>
            <a:custGeom>
              <a:avLst/>
              <a:gdLst/>
              <a:ahLst/>
              <a:cxnLst/>
              <a:rect l="l" t="t" r="r" b="b"/>
              <a:pathLst>
                <a:path w="423164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38862"/>
                    <a:pt x="4231640" y="86868"/>
                  </a:cubicBezTo>
                  <a:lnTo>
                    <a:pt x="4231640" y="999236"/>
                  </a:lnTo>
                  <a:cubicBezTo>
                    <a:pt x="4231640" y="1047242"/>
                    <a:pt x="4192778" y="1086104"/>
                    <a:pt x="414477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4231640" cy="1124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AST engine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Tree-sitter: TS, JS, Py, Go, Java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71735" y="4365879"/>
            <a:ext cx="3173730" cy="854003"/>
            <a:chOff x="0" y="0"/>
            <a:chExt cx="4231640" cy="113867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231640" cy="1138671"/>
            </a:xfrm>
            <a:custGeom>
              <a:avLst/>
              <a:gdLst/>
              <a:ahLst/>
              <a:cxnLst/>
              <a:rect l="l" t="t" r="r" b="b"/>
              <a:pathLst>
                <a:path w="4231640" h="1138671">
                  <a:moveTo>
                    <a:pt x="0" y="91072"/>
                  </a:moveTo>
                  <a:cubicBezTo>
                    <a:pt x="0" y="40743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40743"/>
                    <a:pt x="4231640" y="91072"/>
                  </a:cubicBezTo>
                  <a:lnTo>
                    <a:pt x="4231640" y="1047598"/>
                  </a:lnTo>
                  <a:cubicBezTo>
                    <a:pt x="4231640" y="1097928"/>
                    <a:pt x="4192778" y="1138671"/>
                    <a:pt x="4144772" y="1138671"/>
                  </a:cubicBezTo>
                  <a:lnTo>
                    <a:pt x="86868" y="1138671"/>
                  </a:lnTo>
                  <a:cubicBezTo>
                    <a:pt x="38862" y="1138670"/>
                    <a:pt x="0" y="1097928"/>
                    <a:pt x="0" y="10475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4231640" cy="1186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2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Graph + symbols</a:t>
              </a:r>
            </a:p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call graph, blast radius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91540" y="5321808"/>
            <a:ext cx="2331720" cy="932688"/>
            <a:chOff x="0" y="0"/>
            <a:chExt cx="3108960" cy="124358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03  Detection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360420" y="5321808"/>
            <a:ext cx="10012680" cy="932688"/>
            <a:chOff x="0" y="0"/>
            <a:chExt cx="13350240" cy="124358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488055" y="5380863"/>
            <a:ext cx="2350770" cy="1064569"/>
            <a:chOff x="0" y="0"/>
            <a:chExt cx="3134360" cy="141942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34360" cy="1419425"/>
            </a:xfrm>
            <a:custGeom>
              <a:avLst/>
              <a:gdLst/>
              <a:ahLst/>
              <a:cxnLst/>
              <a:rect l="l" t="t" r="r" b="b"/>
              <a:pathLst>
                <a:path w="3134360" h="1419425">
                  <a:moveTo>
                    <a:pt x="0" y="113527"/>
                  </a:moveTo>
                  <a:cubicBezTo>
                    <a:pt x="0" y="50789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50789"/>
                    <a:pt x="3134360" y="113527"/>
                  </a:cubicBezTo>
                  <a:lnTo>
                    <a:pt x="3134360" y="1305898"/>
                  </a:lnTo>
                  <a:cubicBezTo>
                    <a:pt x="3134360" y="1368637"/>
                    <a:pt x="3095498" y="1419425"/>
                    <a:pt x="3047492" y="1419425"/>
                  </a:cubicBezTo>
                  <a:lnTo>
                    <a:pt x="86868" y="1419425"/>
                  </a:lnTo>
                  <a:cubicBezTo>
                    <a:pt x="38862" y="1419425"/>
                    <a:pt x="0" y="1368637"/>
                    <a:pt x="0" y="13058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3134360" cy="1467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CPU / compute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spinlocks, busy waiting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956935" y="5380863"/>
            <a:ext cx="2350770" cy="1064569"/>
            <a:chOff x="0" y="0"/>
            <a:chExt cx="3134360" cy="1419425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134360" cy="1419425"/>
            </a:xfrm>
            <a:custGeom>
              <a:avLst/>
              <a:gdLst/>
              <a:ahLst/>
              <a:cxnLst/>
              <a:rect l="l" t="t" r="r" b="b"/>
              <a:pathLst>
                <a:path w="3134360" h="1419425">
                  <a:moveTo>
                    <a:pt x="0" y="113527"/>
                  </a:moveTo>
                  <a:cubicBezTo>
                    <a:pt x="0" y="50789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50789"/>
                    <a:pt x="3134360" y="113527"/>
                  </a:cubicBezTo>
                  <a:lnTo>
                    <a:pt x="3134360" y="1305898"/>
                  </a:lnTo>
                  <a:cubicBezTo>
                    <a:pt x="3134360" y="1368637"/>
                    <a:pt x="3095498" y="1419425"/>
                    <a:pt x="3047492" y="1419425"/>
                  </a:cubicBezTo>
                  <a:lnTo>
                    <a:pt x="86868" y="1419425"/>
                  </a:lnTo>
                  <a:cubicBezTo>
                    <a:pt x="38862" y="1419425"/>
                    <a:pt x="0" y="1368637"/>
                    <a:pt x="0" y="130589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3134360" cy="1467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Database / I/O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slow queries, no indexes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425815" y="5380863"/>
            <a:ext cx="2350770" cy="1003165"/>
            <a:chOff x="0" y="0"/>
            <a:chExt cx="3134360" cy="133755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134360" cy="1337553"/>
            </a:xfrm>
            <a:custGeom>
              <a:avLst/>
              <a:gdLst/>
              <a:ahLst/>
              <a:cxnLst/>
              <a:rect l="l" t="t" r="r" b="b"/>
              <a:pathLst>
                <a:path w="3134360" h="1337553">
                  <a:moveTo>
                    <a:pt x="0" y="106979"/>
                  </a:moveTo>
                  <a:cubicBezTo>
                    <a:pt x="0" y="47859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47859"/>
                    <a:pt x="3134360" y="106979"/>
                  </a:cubicBezTo>
                  <a:lnTo>
                    <a:pt x="3134360" y="1230574"/>
                  </a:lnTo>
                  <a:cubicBezTo>
                    <a:pt x="3134360" y="1289694"/>
                    <a:pt x="3095498" y="1337553"/>
                    <a:pt x="3047492" y="1337553"/>
                  </a:cubicBezTo>
                  <a:lnTo>
                    <a:pt x="86868" y="1337553"/>
                  </a:lnTo>
                  <a:cubicBezTo>
                    <a:pt x="38862" y="1337553"/>
                    <a:pt x="0" y="1289694"/>
                    <a:pt x="0" y="1230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3134360" cy="13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Network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unthrottled API polling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894695" y="5380863"/>
            <a:ext cx="2350770" cy="814578"/>
            <a:chOff x="0" y="0"/>
            <a:chExt cx="3134360" cy="10861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134360" cy="1086104"/>
            </a:xfrm>
            <a:custGeom>
              <a:avLst/>
              <a:gdLst/>
              <a:ahLst/>
              <a:cxnLst/>
              <a:rect l="l" t="t" r="r" b="b"/>
              <a:pathLst>
                <a:path w="313436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3047492" y="0"/>
                  </a:lnTo>
                  <a:cubicBezTo>
                    <a:pt x="3095498" y="0"/>
                    <a:pt x="3134360" y="38862"/>
                    <a:pt x="3134360" y="86868"/>
                  </a:cubicBezTo>
                  <a:lnTo>
                    <a:pt x="3134360" y="999236"/>
                  </a:lnTo>
                  <a:cubicBezTo>
                    <a:pt x="3134360" y="1047242"/>
                    <a:pt x="3095498" y="1086104"/>
                    <a:pt x="304749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47625"/>
              <a:ext cx="3134360" cy="1133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Memory / resources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leaks, starvation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91540" y="6336792"/>
            <a:ext cx="2331720" cy="932688"/>
            <a:chOff x="0" y="0"/>
            <a:chExt cx="3108960" cy="124358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14122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04  AI reasoning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360420" y="6336792"/>
            <a:ext cx="10012680" cy="932688"/>
            <a:chOff x="0" y="0"/>
            <a:chExt cx="13350240" cy="124358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3488055" y="6395847"/>
            <a:ext cx="3173730" cy="1003165"/>
            <a:chOff x="0" y="0"/>
            <a:chExt cx="4231640" cy="133755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231640" cy="1337553"/>
            </a:xfrm>
            <a:custGeom>
              <a:avLst/>
              <a:gdLst/>
              <a:ahLst/>
              <a:cxnLst/>
              <a:rect l="l" t="t" r="r" b="b"/>
              <a:pathLst>
                <a:path w="4231640" h="1337553">
                  <a:moveTo>
                    <a:pt x="0" y="106979"/>
                  </a:moveTo>
                  <a:cubicBezTo>
                    <a:pt x="0" y="47859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47859"/>
                    <a:pt x="4231640" y="106979"/>
                  </a:cubicBezTo>
                  <a:lnTo>
                    <a:pt x="4231640" y="1230574"/>
                  </a:lnTo>
                  <a:cubicBezTo>
                    <a:pt x="4231640" y="1289694"/>
                    <a:pt x="4192778" y="1337553"/>
                    <a:pt x="4144772" y="1337553"/>
                  </a:cubicBezTo>
                  <a:lnTo>
                    <a:pt x="86868" y="1337553"/>
                  </a:lnTo>
                  <a:cubicBezTo>
                    <a:pt x="38862" y="1337553"/>
                    <a:pt x="0" y="1289694"/>
                    <a:pt x="0" y="1230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4231640" cy="13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Pluggable LLM layer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Gemini, OpenAI, Ollama; failover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779895" y="6395847"/>
            <a:ext cx="3173730" cy="1003165"/>
            <a:chOff x="0" y="0"/>
            <a:chExt cx="4231640" cy="133755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231640" cy="1337553"/>
            </a:xfrm>
            <a:custGeom>
              <a:avLst/>
              <a:gdLst/>
              <a:ahLst/>
              <a:cxnLst/>
              <a:rect l="l" t="t" r="r" b="b"/>
              <a:pathLst>
                <a:path w="4231640" h="1337553">
                  <a:moveTo>
                    <a:pt x="0" y="106979"/>
                  </a:moveTo>
                  <a:cubicBezTo>
                    <a:pt x="0" y="47859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47859"/>
                    <a:pt x="4231640" y="106979"/>
                  </a:cubicBezTo>
                  <a:lnTo>
                    <a:pt x="4231640" y="1230574"/>
                  </a:lnTo>
                  <a:cubicBezTo>
                    <a:pt x="4231640" y="1289694"/>
                    <a:pt x="4192778" y="1337553"/>
                    <a:pt x="4144772" y="1337553"/>
                  </a:cubicBezTo>
                  <a:lnTo>
                    <a:pt x="86868" y="1337553"/>
                  </a:lnTo>
                  <a:cubicBezTo>
                    <a:pt x="38862" y="1337553"/>
                    <a:pt x="0" y="1289694"/>
                    <a:pt x="0" y="123057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4231640" cy="1375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Agent Orchestrator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4-turn reasoning, prioritised findings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0071735" y="6395847"/>
            <a:ext cx="3173730" cy="960810"/>
            <a:chOff x="0" y="0"/>
            <a:chExt cx="4231640" cy="12810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231640" cy="1281080"/>
            </a:xfrm>
            <a:custGeom>
              <a:avLst/>
              <a:gdLst/>
              <a:ahLst/>
              <a:cxnLst/>
              <a:rect l="l" t="t" r="r" b="b"/>
              <a:pathLst>
                <a:path w="4231640" h="1281080">
                  <a:moveTo>
                    <a:pt x="0" y="102462"/>
                  </a:moveTo>
                  <a:cubicBezTo>
                    <a:pt x="0" y="45838"/>
                    <a:pt x="38862" y="0"/>
                    <a:pt x="86868" y="0"/>
                  </a:cubicBezTo>
                  <a:lnTo>
                    <a:pt x="4144772" y="0"/>
                  </a:lnTo>
                  <a:cubicBezTo>
                    <a:pt x="4192778" y="0"/>
                    <a:pt x="4231640" y="45838"/>
                    <a:pt x="4231640" y="102462"/>
                  </a:cubicBezTo>
                  <a:lnTo>
                    <a:pt x="4231640" y="1178618"/>
                  </a:lnTo>
                  <a:cubicBezTo>
                    <a:pt x="4231640" y="1235242"/>
                    <a:pt x="4192778" y="1281080"/>
                    <a:pt x="4144772" y="1281080"/>
                  </a:cubicBezTo>
                  <a:lnTo>
                    <a:pt x="86868" y="1281080"/>
                  </a:lnTo>
                  <a:cubicBezTo>
                    <a:pt x="38862" y="1281080"/>
                    <a:pt x="0" y="1235242"/>
                    <a:pt x="0" y="11786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4231640" cy="1319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9"/>
                </a:lnSpc>
              </a:pPr>
              <a:r>
                <a:rPr lang="en-US" sz="18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Domain agents</a:t>
              </a:r>
            </a:p>
            <a:p>
              <a:pPr algn="ctr">
                <a:lnSpc>
                  <a:spcPts val="1979"/>
                </a:lnSpc>
              </a:pPr>
              <a:r>
                <a:rPr lang="en-US" sz="16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6 specialists: AI, carbon, cloud, IaC, DR, collab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91540" y="7351776"/>
            <a:ext cx="2331720" cy="932688"/>
            <a:chOff x="0" y="0"/>
            <a:chExt cx="3108960" cy="124358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05  Carbon + audit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360420" y="7351776"/>
            <a:ext cx="10012680" cy="932688"/>
            <a:chOff x="0" y="0"/>
            <a:chExt cx="13350240" cy="124358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488055" y="7410831"/>
            <a:ext cx="4819650" cy="814578"/>
            <a:chOff x="0" y="0"/>
            <a:chExt cx="6426200" cy="108610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6426200" cy="1086104"/>
            </a:xfrm>
            <a:custGeom>
              <a:avLst/>
              <a:gdLst/>
              <a:ahLst/>
              <a:cxnLst/>
              <a:rect l="l" t="t" r="r" b="b"/>
              <a:pathLst>
                <a:path w="642620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339332" y="0"/>
                  </a:lnTo>
                  <a:cubicBezTo>
                    <a:pt x="6387338" y="0"/>
                    <a:pt x="6426200" y="38862"/>
                    <a:pt x="6426200" y="86868"/>
                  </a:cubicBezTo>
                  <a:lnTo>
                    <a:pt x="6426200" y="999236"/>
                  </a:lnTo>
                  <a:cubicBezTo>
                    <a:pt x="6426200" y="1047242"/>
                    <a:pt x="6387338" y="1086104"/>
                    <a:pt x="633933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6426200" cy="1133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SCI engine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SCI = ((E × I) + M) / R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425815" y="7410831"/>
            <a:ext cx="4819650" cy="814578"/>
            <a:chOff x="0" y="0"/>
            <a:chExt cx="6426200" cy="108610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6426200" cy="1086104"/>
            </a:xfrm>
            <a:custGeom>
              <a:avLst/>
              <a:gdLst/>
              <a:ahLst/>
              <a:cxnLst/>
              <a:rect l="l" t="t" r="r" b="b"/>
              <a:pathLst>
                <a:path w="642620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339332" y="0"/>
                  </a:lnTo>
                  <a:cubicBezTo>
                    <a:pt x="6387338" y="0"/>
                    <a:pt x="6426200" y="38862"/>
                    <a:pt x="6426200" y="86868"/>
                  </a:cubicBezTo>
                  <a:lnTo>
                    <a:pt x="6426200" y="999236"/>
                  </a:lnTo>
                  <a:cubicBezTo>
                    <a:pt x="6426200" y="1047242"/>
                    <a:pt x="6387338" y="1086104"/>
                    <a:pt x="633933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6426200" cy="1124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9"/>
                </a:lnSpc>
              </a:pPr>
              <a:r>
                <a:rPr lang="en-US" sz="19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Immutable ledger</a:t>
              </a:r>
            </a:p>
            <a:p>
              <a:pPr algn="ctr">
                <a:lnSpc>
                  <a:spcPts val="2099"/>
                </a:lnSpc>
              </a:pPr>
              <a:r>
                <a:rPr lang="en-US" sz="17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SHA-256 chained, tamper detection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91540" y="8366760"/>
            <a:ext cx="2331720" cy="932688"/>
            <a:chOff x="0" y="0"/>
            <a:chExt cx="3108960" cy="124358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108960" cy="1243584"/>
            </a:xfrm>
            <a:custGeom>
              <a:avLst/>
              <a:gdLst/>
              <a:ahLst/>
              <a:cxnLst/>
              <a:rect l="l" t="t" r="r" b="b"/>
              <a:pathLst>
                <a:path w="3108960" h="1243584">
                  <a:moveTo>
                    <a:pt x="0" y="99441"/>
                  </a:moveTo>
                  <a:cubicBezTo>
                    <a:pt x="0" y="44577"/>
                    <a:pt x="44577" y="0"/>
                    <a:pt x="99441" y="0"/>
                  </a:cubicBezTo>
                  <a:lnTo>
                    <a:pt x="3009519" y="0"/>
                  </a:lnTo>
                  <a:cubicBezTo>
                    <a:pt x="3064510" y="0"/>
                    <a:pt x="3108960" y="44577"/>
                    <a:pt x="3108960" y="99441"/>
                  </a:cubicBezTo>
                  <a:lnTo>
                    <a:pt x="3108960" y="1144143"/>
                  </a:lnTo>
                  <a:cubicBezTo>
                    <a:pt x="3108960" y="1199134"/>
                    <a:pt x="3064383" y="1243584"/>
                    <a:pt x="3009519" y="1243584"/>
                  </a:cubicBezTo>
                  <a:lnTo>
                    <a:pt x="99441" y="1243584"/>
                  </a:lnTo>
                  <a:cubicBezTo>
                    <a:pt x="44577" y="1243584"/>
                    <a:pt x="0" y="1199007"/>
                    <a:pt x="0" y="1144143"/>
                  </a:cubicBezTo>
                  <a:close/>
                </a:path>
              </a:pathLst>
            </a:custGeom>
            <a:solidFill>
              <a:srgbClr val="5A3E9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3108960" cy="12912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06  Outputs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3360420" y="8366760"/>
            <a:ext cx="10012680" cy="932688"/>
            <a:chOff x="0" y="0"/>
            <a:chExt cx="13350240" cy="1243584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3350239" cy="1243584"/>
            </a:xfrm>
            <a:custGeom>
              <a:avLst/>
              <a:gdLst/>
              <a:ahLst/>
              <a:cxnLst/>
              <a:rect l="l" t="t" r="r" b="b"/>
              <a:pathLst>
                <a:path w="13350239" h="1243584">
                  <a:moveTo>
                    <a:pt x="0" y="0"/>
                  </a:moveTo>
                  <a:lnTo>
                    <a:pt x="13350239" y="0"/>
                  </a:lnTo>
                  <a:lnTo>
                    <a:pt x="13350239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3488055" y="8425815"/>
            <a:ext cx="4819650" cy="1158803"/>
            <a:chOff x="0" y="0"/>
            <a:chExt cx="6426200" cy="154507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6426200" cy="1545071"/>
            </a:xfrm>
            <a:custGeom>
              <a:avLst/>
              <a:gdLst/>
              <a:ahLst/>
              <a:cxnLst/>
              <a:rect l="l" t="t" r="r" b="b"/>
              <a:pathLst>
                <a:path w="6426200" h="1545071">
                  <a:moveTo>
                    <a:pt x="0" y="123577"/>
                  </a:moveTo>
                  <a:cubicBezTo>
                    <a:pt x="0" y="55284"/>
                    <a:pt x="38862" y="0"/>
                    <a:pt x="86868" y="0"/>
                  </a:cubicBezTo>
                  <a:lnTo>
                    <a:pt x="6339332" y="0"/>
                  </a:lnTo>
                  <a:cubicBezTo>
                    <a:pt x="6387338" y="0"/>
                    <a:pt x="6426200" y="55284"/>
                    <a:pt x="6426200" y="123577"/>
                  </a:cubicBezTo>
                  <a:lnTo>
                    <a:pt x="6426200" y="1421494"/>
                  </a:lnTo>
                  <a:cubicBezTo>
                    <a:pt x="6426200" y="1489786"/>
                    <a:pt x="6387338" y="1545071"/>
                    <a:pt x="6339332" y="1545071"/>
                  </a:cubicBezTo>
                  <a:lnTo>
                    <a:pt x="86868" y="1545071"/>
                  </a:lnTo>
                  <a:cubicBezTo>
                    <a:pt x="38862" y="1545070"/>
                    <a:pt x="0" y="1489786"/>
                    <a:pt x="0" y="142149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47625"/>
              <a:ext cx="6426200" cy="1592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9"/>
                </a:lnSpc>
              </a:pPr>
              <a:r>
                <a:rPr lang="en-US" sz="22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GitHub connector</a:t>
              </a:r>
            </a:p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 summary, inline suggestions, check runs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8425815" y="8425815"/>
            <a:ext cx="4819650" cy="814578"/>
            <a:chOff x="0" y="0"/>
            <a:chExt cx="6426200" cy="108610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6426200" cy="1086104"/>
            </a:xfrm>
            <a:custGeom>
              <a:avLst/>
              <a:gdLst/>
              <a:ahLst/>
              <a:cxnLst/>
              <a:rect l="l" t="t" r="r" b="b"/>
              <a:pathLst>
                <a:path w="6426200" h="1086104">
                  <a:moveTo>
                    <a:pt x="0" y="86868"/>
                  </a:moveTo>
                  <a:cubicBezTo>
                    <a:pt x="0" y="38862"/>
                    <a:pt x="38862" y="0"/>
                    <a:pt x="86868" y="0"/>
                  </a:cubicBezTo>
                  <a:lnTo>
                    <a:pt x="6339332" y="0"/>
                  </a:lnTo>
                  <a:cubicBezTo>
                    <a:pt x="6387338" y="0"/>
                    <a:pt x="6426200" y="38862"/>
                    <a:pt x="6426200" y="86868"/>
                  </a:cubicBezTo>
                  <a:lnTo>
                    <a:pt x="6426200" y="999236"/>
                  </a:lnTo>
                  <a:cubicBezTo>
                    <a:pt x="6426200" y="1047242"/>
                    <a:pt x="6387338" y="1086104"/>
                    <a:pt x="6339332" y="1086104"/>
                  </a:cubicBezTo>
                  <a:lnTo>
                    <a:pt x="86868" y="1086104"/>
                  </a:lnTo>
                  <a:cubicBezTo>
                    <a:pt x="38862" y="1086104"/>
                    <a:pt x="0" y="1047242"/>
                    <a:pt x="0" y="99923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FC99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47625"/>
              <a:ext cx="6426200" cy="11337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89"/>
                </a:lnSpc>
              </a:pPr>
              <a:r>
                <a:rPr lang="en-US" sz="2074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Dashboard live sync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SCI trends, ledger explorer, approval logging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3789152" y="2673096"/>
            <a:ext cx="348843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1">
                <a:solidFill>
                  <a:srgbClr val="5B607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SUPPORTING SERVICES</a:t>
            </a:r>
          </a:p>
        </p:txBody>
      </p:sp>
      <p:grpSp>
        <p:nvGrpSpPr>
          <p:cNvPr id="108" name="Group 108"/>
          <p:cNvGrpSpPr/>
          <p:nvPr/>
        </p:nvGrpSpPr>
        <p:grpSpPr>
          <a:xfrm>
            <a:off x="13701712" y="3277553"/>
            <a:ext cx="3663315" cy="1400175"/>
            <a:chOff x="0" y="0"/>
            <a:chExt cx="4884420" cy="18669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4884420" cy="1866900"/>
            </a:xfrm>
            <a:custGeom>
              <a:avLst/>
              <a:gdLst/>
              <a:ahLst/>
              <a:cxnLst/>
              <a:rect l="l" t="t" r="r" b="b"/>
              <a:pathLst>
                <a:path w="4884420" h="18669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735068" y="0"/>
                  </a:lnTo>
                  <a:cubicBezTo>
                    <a:pt x="4817491" y="0"/>
                    <a:pt x="4884420" y="66929"/>
                    <a:pt x="4884420" y="149352"/>
                  </a:cubicBezTo>
                  <a:lnTo>
                    <a:pt x="4884420" y="1717548"/>
                  </a:lnTo>
                  <a:cubicBezTo>
                    <a:pt x="4884420" y="1799971"/>
                    <a:pt x="4817491" y="1866900"/>
                    <a:pt x="473506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A3E9B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4884420" cy="190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79"/>
                </a:lnSpc>
              </a:pPr>
              <a:r>
                <a:rPr lang="en-US" sz="2149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Repository policy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Rules, thresholds, carbon budgets for Detection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3701712" y="4813744"/>
            <a:ext cx="3663315" cy="1400175"/>
            <a:chOff x="0" y="0"/>
            <a:chExt cx="4884420" cy="186690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4884420" cy="1866900"/>
            </a:xfrm>
            <a:custGeom>
              <a:avLst/>
              <a:gdLst/>
              <a:ahLst/>
              <a:cxnLst/>
              <a:rect l="l" t="t" r="r" b="b"/>
              <a:pathLst>
                <a:path w="4884420" h="18669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735068" y="0"/>
                  </a:lnTo>
                  <a:cubicBezTo>
                    <a:pt x="4817491" y="0"/>
                    <a:pt x="4884420" y="66929"/>
                    <a:pt x="4884420" y="149352"/>
                  </a:cubicBezTo>
                  <a:lnTo>
                    <a:pt x="4884420" y="1717548"/>
                  </a:lnTo>
                  <a:cubicBezTo>
                    <a:pt x="4884420" y="1799971"/>
                    <a:pt x="4817491" y="1866900"/>
                    <a:pt x="473506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A3E9B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47625"/>
              <a:ext cx="4884420" cy="1914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59"/>
                </a:lnSpc>
              </a:pPr>
              <a:r>
                <a:rPr lang="en-US" sz="2049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Measurement inputs</a:t>
              </a:r>
            </a:p>
            <a:p>
              <a:pPr algn="ctr">
                <a:lnSpc>
                  <a:spcPts val="2189"/>
                </a:lnSpc>
              </a:pPr>
              <a:r>
                <a:rPr lang="en-US" sz="1824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Energy, region, hardware carbon for SCI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3701712" y="6349936"/>
            <a:ext cx="3663315" cy="1400175"/>
            <a:chOff x="0" y="0"/>
            <a:chExt cx="4884420" cy="18669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4884420" cy="1866900"/>
            </a:xfrm>
            <a:custGeom>
              <a:avLst/>
              <a:gdLst/>
              <a:ahLst/>
              <a:cxnLst/>
              <a:rect l="l" t="t" r="r" b="b"/>
              <a:pathLst>
                <a:path w="4884420" h="18669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735068" y="0"/>
                  </a:lnTo>
                  <a:cubicBezTo>
                    <a:pt x="4817491" y="0"/>
                    <a:pt x="4884420" y="66929"/>
                    <a:pt x="4884420" y="149352"/>
                  </a:cubicBezTo>
                  <a:lnTo>
                    <a:pt x="4884420" y="1717548"/>
                  </a:lnTo>
                  <a:cubicBezTo>
                    <a:pt x="4884420" y="1799971"/>
                    <a:pt x="4817491" y="1866900"/>
                    <a:pt x="473506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A3E9B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-38100"/>
              <a:ext cx="4884420" cy="190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79"/>
                </a:lnSpc>
              </a:pPr>
              <a:r>
                <a:rPr lang="en-US" sz="2149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Grid carbon data</a:t>
              </a:r>
            </a:p>
            <a:p>
              <a:pPr algn="ctr">
                <a:lnSpc>
                  <a:spcPts val="2309"/>
                </a:lnSpc>
              </a:pPr>
              <a:r>
                <a:rPr lang="en-US" sz="1924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Regional, time-aware, cached factors for SCI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3701712" y="7886129"/>
            <a:ext cx="3663315" cy="1400175"/>
            <a:chOff x="0" y="0"/>
            <a:chExt cx="4884420" cy="18669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4884420" cy="1866900"/>
            </a:xfrm>
            <a:custGeom>
              <a:avLst/>
              <a:gdLst/>
              <a:ahLst/>
              <a:cxnLst/>
              <a:rect l="l" t="t" r="r" b="b"/>
              <a:pathLst>
                <a:path w="4884420" h="186690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735068" y="0"/>
                  </a:lnTo>
                  <a:cubicBezTo>
                    <a:pt x="4817491" y="0"/>
                    <a:pt x="4884420" y="66929"/>
                    <a:pt x="4884420" y="149352"/>
                  </a:cubicBezTo>
                  <a:lnTo>
                    <a:pt x="4884420" y="1717548"/>
                  </a:lnTo>
                  <a:cubicBezTo>
                    <a:pt x="4884420" y="1799971"/>
                    <a:pt x="4817491" y="1866900"/>
                    <a:pt x="4735068" y="1866900"/>
                  </a:cubicBezTo>
                  <a:lnTo>
                    <a:pt x="149352" y="1866900"/>
                  </a:lnTo>
                  <a:cubicBezTo>
                    <a:pt x="66929" y="1866900"/>
                    <a:pt x="0" y="1799971"/>
                    <a:pt x="0" y="171754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A3E9B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47625"/>
              <a:ext cx="4884420" cy="1914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59"/>
                </a:lnSpc>
              </a:pPr>
              <a:r>
                <a:rPr lang="en-US" sz="2049" b="1">
                  <a:solidFill>
                    <a:srgbClr val="1A1A2E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Ledger storage</a:t>
              </a:r>
            </a:p>
            <a:p>
              <a:pPr algn="ctr">
                <a:lnSpc>
                  <a:spcPts val="2189"/>
                </a:lnSpc>
              </a:pPr>
              <a:r>
                <a:rPr lang="en-US" sz="1824">
                  <a:solidFill>
                    <a:srgbClr val="5B607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Findings, SCI results, hash-linked records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567979" y="359283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8792A4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84315" y="1213466"/>
            <a:ext cx="17555527" cy="8676322"/>
            <a:chOff x="0" y="0"/>
            <a:chExt cx="23407370" cy="115684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06608" cy="11567160"/>
            </a:xfrm>
            <a:custGeom>
              <a:avLst/>
              <a:gdLst/>
              <a:ahLst/>
              <a:cxnLst/>
              <a:rect l="l" t="t" r="r" b="b"/>
              <a:pathLst>
                <a:path w="23406608" h="11567160">
                  <a:moveTo>
                    <a:pt x="23406608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406608" y="11567160"/>
                  </a:lnTo>
                  <a:lnTo>
                    <a:pt x="2340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 descr="$PPTXTitle"/>
          <p:cNvSpPr txBox="1"/>
          <p:nvPr/>
        </p:nvSpPr>
        <p:spPr>
          <a:xfrm>
            <a:off x="1417320" y="1755927"/>
            <a:ext cx="15499080" cy="977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58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254728" y="397764"/>
            <a:ext cx="649224" cy="530352"/>
            <a:chOff x="0" y="0"/>
            <a:chExt cx="865632" cy="7071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265" y="35161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4E5E78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7320" y="2492812"/>
            <a:ext cx="1540764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 b="1">
                <a:solidFill>
                  <a:srgbClr val="178C6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changes for engineering and sustainability teams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7320" y="3348990"/>
            <a:ext cx="662940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5A5F6B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Today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46920" y="3348990"/>
            <a:ext cx="717804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1">
                <a:solidFill>
                  <a:srgbClr val="178C6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With GreenOps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71600" y="3977640"/>
            <a:ext cx="6720840" cy="740664"/>
            <a:chOff x="0" y="0"/>
            <a:chExt cx="8961120" cy="9875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Audited after the waste exists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35340" y="4073652"/>
            <a:ext cx="822960" cy="548640"/>
            <a:chOff x="0" y="0"/>
            <a:chExt cx="109728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89294" y="3965734"/>
            <a:ext cx="7293293" cy="764476"/>
            <a:chOff x="0" y="0"/>
            <a:chExt cx="9724390" cy="10193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24390" cy="1019302"/>
            </a:xfrm>
            <a:custGeom>
              <a:avLst/>
              <a:gdLst/>
              <a:ahLst/>
              <a:cxnLst/>
              <a:rect l="l" t="t" r="r" b="b"/>
              <a:pathLst>
                <a:path w="9724390" h="1019302">
                  <a:moveTo>
                    <a:pt x="0" y="122301"/>
                  </a:moveTo>
                  <a:cubicBezTo>
                    <a:pt x="0" y="54737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54737"/>
                    <a:pt x="9724390" y="122301"/>
                  </a:cubicBezTo>
                  <a:lnTo>
                    <a:pt x="9724390" y="897001"/>
                  </a:lnTo>
                  <a:cubicBezTo>
                    <a:pt x="9724390" y="964565"/>
                    <a:pt x="9669653" y="1019302"/>
                    <a:pt x="9602089" y="1019302"/>
                  </a:cubicBezTo>
                  <a:lnTo>
                    <a:pt x="122301" y="1019302"/>
                  </a:lnTo>
                  <a:cubicBezTo>
                    <a:pt x="54737" y="1019302"/>
                    <a:pt x="0" y="964565"/>
                    <a:pt x="0" y="897001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724390" cy="1066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Caught inside the engineering loop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1600" y="4855464"/>
            <a:ext cx="6720840" cy="740664"/>
            <a:chOff x="0" y="0"/>
            <a:chExt cx="8961120" cy="9875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Separate tools for each team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35340" y="4951476"/>
            <a:ext cx="822960" cy="548640"/>
            <a:chOff x="0" y="0"/>
            <a:chExt cx="1097280" cy="731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89294" y="4843558"/>
            <a:ext cx="7293293" cy="764476"/>
            <a:chOff x="0" y="0"/>
            <a:chExt cx="9724390" cy="101930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724390" cy="1019302"/>
            </a:xfrm>
            <a:custGeom>
              <a:avLst/>
              <a:gdLst/>
              <a:ahLst/>
              <a:cxnLst/>
              <a:rect l="l" t="t" r="r" b="b"/>
              <a:pathLst>
                <a:path w="9724390" h="1019302">
                  <a:moveTo>
                    <a:pt x="0" y="122301"/>
                  </a:moveTo>
                  <a:cubicBezTo>
                    <a:pt x="0" y="54737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54737"/>
                    <a:pt x="9724390" y="122301"/>
                  </a:cubicBezTo>
                  <a:lnTo>
                    <a:pt x="9724390" y="897001"/>
                  </a:lnTo>
                  <a:cubicBezTo>
                    <a:pt x="9724390" y="964565"/>
                    <a:pt x="9669653" y="1019302"/>
                    <a:pt x="9602089" y="1019302"/>
                  </a:cubicBezTo>
                  <a:lnTo>
                    <a:pt x="122301" y="1019302"/>
                  </a:lnTo>
                  <a:cubicBezTo>
                    <a:pt x="54737" y="1019302"/>
                    <a:pt x="0" y="964565"/>
                    <a:pt x="0" y="897001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724390" cy="1066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One ledger across six domains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71600" y="5733288"/>
            <a:ext cx="6720840" cy="740664"/>
            <a:chOff x="0" y="0"/>
            <a:chExt cx="8961120" cy="9875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Numbers with no explanation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435340" y="5829300"/>
            <a:ext cx="822960" cy="548640"/>
            <a:chOff x="0" y="0"/>
            <a:chExt cx="1097280" cy="7315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89294" y="5721382"/>
            <a:ext cx="7293293" cy="764476"/>
            <a:chOff x="0" y="0"/>
            <a:chExt cx="9724390" cy="101930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724390" cy="1019302"/>
            </a:xfrm>
            <a:custGeom>
              <a:avLst/>
              <a:gdLst/>
              <a:ahLst/>
              <a:cxnLst/>
              <a:rect l="l" t="t" r="r" b="b"/>
              <a:pathLst>
                <a:path w="9724390" h="1019302">
                  <a:moveTo>
                    <a:pt x="0" y="122301"/>
                  </a:moveTo>
                  <a:cubicBezTo>
                    <a:pt x="0" y="54737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54737"/>
                    <a:pt x="9724390" y="122301"/>
                  </a:cubicBezTo>
                  <a:lnTo>
                    <a:pt x="9724390" y="897001"/>
                  </a:lnTo>
                  <a:cubicBezTo>
                    <a:pt x="9724390" y="964565"/>
                    <a:pt x="9669653" y="1019302"/>
                    <a:pt x="9602089" y="1019302"/>
                  </a:cubicBezTo>
                  <a:lnTo>
                    <a:pt x="122301" y="1019302"/>
                  </a:lnTo>
                  <a:cubicBezTo>
                    <a:pt x="54737" y="1019302"/>
                    <a:pt x="0" y="964565"/>
                    <a:pt x="0" y="897001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9724390" cy="1066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Baseline and evidence on every figure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71600" y="6611112"/>
            <a:ext cx="6720840" cy="740664"/>
            <a:chOff x="0" y="0"/>
            <a:chExt cx="8961120" cy="9875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Fixes applied blindly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435340" y="6707124"/>
            <a:ext cx="822960" cy="548640"/>
            <a:chOff x="0" y="0"/>
            <a:chExt cx="1097280" cy="731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89294" y="6599206"/>
            <a:ext cx="7293293" cy="841820"/>
            <a:chOff x="0" y="0"/>
            <a:chExt cx="9724390" cy="112242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724390" cy="1122426"/>
            </a:xfrm>
            <a:custGeom>
              <a:avLst/>
              <a:gdLst/>
              <a:ahLst/>
              <a:cxnLst/>
              <a:rect l="l" t="t" r="r" b="b"/>
              <a:pathLst>
                <a:path w="9724390" h="1122426">
                  <a:moveTo>
                    <a:pt x="0" y="134674"/>
                  </a:moveTo>
                  <a:cubicBezTo>
                    <a:pt x="0" y="60275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60275"/>
                    <a:pt x="9724390" y="134674"/>
                  </a:cubicBezTo>
                  <a:lnTo>
                    <a:pt x="9724390" y="987752"/>
                  </a:lnTo>
                  <a:cubicBezTo>
                    <a:pt x="9724390" y="1062151"/>
                    <a:pt x="9669653" y="1122426"/>
                    <a:pt x="9602089" y="1122426"/>
                  </a:cubicBezTo>
                  <a:lnTo>
                    <a:pt x="122301" y="1122426"/>
                  </a:lnTo>
                  <a:cubicBezTo>
                    <a:pt x="54737" y="1122426"/>
                    <a:pt x="0" y="1062151"/>
                    <a:pt x="0" y="987752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724390" cy="1170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Human approval required; sandboxed recommendations in prototype, gated direct infra changes in production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71600" y="7488936"/>
            <a:ext cx="6720840" cy="740664"/>
            <a:chOff x="0" y="0"/>
            <a:chExt cx="8961120" cy="9875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Tool’s own footprint ignored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435340" y="7584948"/>
            <a:ext cx="822960" cy="548640"/>
            <a:chOff x="0" y="0"/>
            <a:chExt cx="1097280" cy="7315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89294" y="7477030"/>
            <a:ext cx="7293293" cy="764476"/>
            <a:chOff x="0" y="0"/>
            <a:chExt cx="9724390" cy="101930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724390" cy="1019302"/>
            </a:xfrm>
            <a:custGeom>
              <a:avLst/>
              <a:gdLst/>
              <a:ahLst/>
              <a:cxnLst/>
              <a:rect l="l" t="t" r="r" b="b"/>
              <a:pathLst>
                <a:path w="9724390" h="1019302">
                  <a:moveTo>
                    <a:pt x="0" y="122301"/>
                  </a:moveTo>
                  <a:cubicBezTo>
                    <a:pt x="0" y="54737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54737"/>
                    <a:pt x="9724390" y="122301"/>
                  </a:cubicBezTo>
                  <a:lnTo>
                    <a:pt x="9724390" y="897001"/>
                  </a:lnTo>
                  <a:cubicBezTo>
                    <a:pt x="9724390" y="964565"/>
                    <a:pt x="9669653" y="1019302"/>
                    <a:pt x="9602089" y="1019302"/>
                  </a:cubicBezTo>
                  <a:lnTo>
                    <a:pt x="122301" y="1019302"/>
                  </a:lnTo>
                  <a:cubicBezTo>
                    <a:pt x="54737" y="1019302"/>
                    <a:pt x="0" y="964565"/>
                    <a:pt x="0" y="897001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724390" cy="1066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Net savings after its own tokens and tool calls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71600" y="8366760"/>
            <a:ext cx="6720840" cy="740664"/>
            <a:chOff x="0" y="0"/>
            <a:chExt cx="8961120" cy="98755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961120" cy="987552"/>
            </a:xfrm>
            <a:custGeom>
              <a:avLst/>
              <a:gdLst/>
              <a:ahLst/>
              <a:cxnLst/>
              <a:rect l="l" t="t" r="r" b="b"/>
              <a:pathLst>
                <a:path w="8961120" h="987552">
                  <a:moveTo>
                    <a:pt x="0" y="118491"/>
                  </a:moveTo>
                  <a:cubicBezTo>
                    <a:pt x="0" y="53086"/>
                    <a:pt x="53086" y="0"/>
                    <a:pt x="118491" y="0"/>
                  </a:cubicBezTo>
                  <a:lnTo>
                    <a:pt x="8842629" y="0"/>
                  </a:lnTo>
                  <a:cubicBezTo>
                    <a:pt x="8908035" y="0"/>
                    <a:pt x="8961120" y="53086"/>
                    <a:pt x="8961120" y="118491"/>
                  </a:cubicBezTo>
                  <a:lnTo>
                    <a:pt x="8961120" y="869061"/>
                  </a:lnTo>
                  <a:cubicBezTo>
                    <a:pt x="8961120" y="934466"/>
                    <a:pt x="8908035" y="987552"/>
                    <a:pt x="8842629" y="987552"/>
                  </a:cubicBezTo>
                  <a:lnTo>
                    <a:pt x="118491" y="987552"/>
                  </a:lnTo>
                  <a:cubicBezTo>
                    <a:pt x="53086" y="987552"/>
                    <a:pt x="0" y="934466"/>
                    <a:pt x="0" y="869061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961120" cy="1035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1B2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Needs cloud accounts and API keys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435340" y="8462772"/>
            <a:ext cx="822960" cy="548640"/>
            <a:chOff x="0" y="0"/>
            <a:chExt cx="109728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97280" cy="731520"/>
            </a:xfrm>
            <a:custGeom>
              <a:avLst/>
              <a:gdLst/>
              <a:ahLst/>
              <a:cxnLst/>
              <a:rect l="l" t="t" r="r" b="b"/>
              <a:pathLst>
                <a:path w="1097280" h="731520">
                  <a:moveTo>
                    <a:pt x="0" y="182880"/>
                  </a:moveTo>
                  <a:lnTo>
                    <a:pt x="731520" y="182880"/>
                  </a:lnTo>
                  <a:lnTo>
                    <a:pt x="731520" y="0"/>
                  </a:lnTo>
                  <a:lnTo>
                    <a:pt x="1097280" y="365760"/>
                  </a:lnTo>
                  <a:lnTo>
                    <a:pt x="731520" y="73152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589294" y="8354854"/>
            <a:ext cx="7293293" cy="764476"/>
            <a:chOff x="0" y="0"/>
            <a:chExt cx="9724390" cy="101930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724390" cy="1019302"/>
            </a:xfrm>
            <a:custGeom>
              <a:avLst/>
              <a:gdLst/>
              <a:ahLst/>
              <a:cxnLst/>
              <a:rect l="l" t="t" r="r" b="b"/>
              <a:pathLst>
                <a:path w="9724390" h="1019302">
                  <a:moveTo>
                    <a:pt x="0" y="122301"/>
                  </a:moveTo>
                  <a:cubicBezTo>
                    <a:pt x="0" y="54737"/>
                    <a:pt x="54737" y="0"/>
                    <a:pt x="122301" y="0"/>
                  </a:cubicBezTo>
                  <a:lnTo>
                    <a:pt x="9602089" y="0"/>
                  </a:lnTo>
                  <a:cubicBezTo>
                    <a:pt x="9669653" y="0"/>
                    <a:pt x="9724390" y="54737"/>
                    <a:pt x="9724390" y="122301"/>
                  </a:cubicBezTo>
                  <a:lnTo>
                    <a:pt x="9724390" y="897001"/>
                  </a:lnTo>
                  <a:cubicBezTo>
                    <a:pt x="9724390" y="964565"/>
                    <a:pt x="9669653" y="1019302"/>
                    <a:pt x="9602089" y="1019302"/>
                  </a:cubicBezTo>
                  <a:lnTo>
                    <a:pt x="122301" y="1019302"/>
                  </a:lnTo>
                  <a:cubicBezTo>
                    <a:pt x="54737" y="1019302"/>
                    <a:pt x="0" y="964565"/>
                    <a:pt x="0" y="897001"/>
                  </a:cubicBezTo>
                  <a:close/>
                </a:path>
              </a:pathLst>
            </a:custGeom>
            <a:solidFill>
              <a:srgbClr val="DDF7EE"/>
            </a:solidFill>
            <a:ln w="23812" cap="sq">
              <a:solidFill>
                <a:srgbClr val="47D9AD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9724390" cy="1066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Runs offline with no setup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84315" y="1213466"/>
            <a:ext cx="17555527" cy="8676322"/>
            <a:chOff x="0" y="0"/>
            <a:chExt cx="23407370" cy="115684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406608" cy="11567160"/>
            </a:xfrm>
            <a:custGeom>
              <a:avLst/>
              <a:gdLst/>
              <a:ahLst/>
              <a:cxnLst/>
              <a:rect l="l" t="t" r="r" b="b"/>
              <a:pathLst>
                <a:path w="23406608" h="11567160">
                  <a:moveTo>
                    <a:pt x="23406608" y="0"/>
                  </a:moveTo>
                  <a:lnTo>
                    <a:pt x="0" y="0"/>
                  </a:lnTo>
                  <a:lnTo>
                    <a:pt x="0" y="11567160"/>
                  </a:lnTo>
                  <a:lnTo>
                    <a:pt x="23406608" y="11567160"/>
                  </a:lnTo>
                  <a:lnTo>
                    <a:pt x="23406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 descr="$PPTXTitle"/>
          <p:cNvSpPr txBox="1"/>
          <p:nvPr/>
        </p:nvSpPr>
        <p:spPr>
          <a:xfrm>
            <a:off x="1371600" y="1960053"/>
            <a:ext cx="15499080" cy="86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2"/>
              </a:lnSpc>
            </a:pPr>
            <a:r>
              <a:rPr lang="en-US" sz="5199" b="1">
                <a:solidFill>
                  <a:srgbClr val="1B1B2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Efficiency choices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254728" y="397764"/>
            <a:ext cx="649224" cy="530352"/>
            <a:chOff x="0" y="0"/>
            <a:chExt cx="865632" cy="7071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5632" cy="707136"/>
            </a:xfrm>
            <a:custGeom>
              <a:avLst/>
              <a:gdLst/>
              <a:ahLst/>
              <a:cxnLst/>
              <a:rect l="l" t="t" r="r" b="b"/>
              <a:pathLst>
                <a:path w="865632" h="707136">
                  <a:moveTo>
                    <a:pt x="0" y="0"/>
                  </a:moveTo>
                  <a:lnTo>
                    <a:pt x="865632" y="0"/>
                  </a:lnTo>
                  <a:lnTo>
                    <a:pt x="865632" y="707136"/>
                  </a:lnTo>
                  <a:lnTo>
                    <a:pt x="0" y="70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5265" y="351615"/>
            <a:ext cx="235648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1" spc="-15">
                <a:solidFill>
                  <a:srgbClr val="4E5E78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Fluidic Intelligence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71600" y="3017520"/>
            <a:ext cx="7543800" cy="1988820"/>
            <a:chOff x="0" y="0"/>
            <a:chExt cx="10058400" cy="2651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5920" y="3291840"/>
            <a:ext cx="685800" cy="685800"/>
            <a:chOff x="0" y="0"/>
            <a:chExt cx="9144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83180" y="3221355"/>
            <a:ext cx="60807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Offline reasoner by default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Rule-based, zero tokens; an LLM plugs into the same interface.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26880" y="3017520"/>
            <a:ext cx="7543800" cy="1988820"/>
            <a:chOff x="0" y="0"/>
            <a:chExt cx="10058400" cy="26517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01200" y="3291840"/>
            <a:ext cx="685800" cy="685800"/>
            <a:chOff x="0" y="0"/>
            <a:chExt cx="91440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538460" y="3221355"/>
            <a:ext cx="60807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Static analysis first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Detection uses AST and graph analysis, not LLM calls.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371600" y="5212080"/>
            <a:ext cx="7543800" cy="1988820"/>
            <a:chOff x="0" y="0"/>
            <a:chExt cx="10058400" cy="26517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5486400"/>
            <a:ext cx="685800" cy="685800"/>
            <a:chOff x="0" y="0"/>
            <a:chExt cx="9144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583180" y="5415915"/>
            <a:ext cx="608076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Simulate before acting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change is made without an estimated benefit.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26880" y="5212080"/>
            <a:ext cx="7543800" cy="1988820"/>
            <a:chOff x="0" y="0"/>
            <a:chExt cx="10058400" cy="26517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01200" y="5486400"/>
            <a:ext cx="685800" cy="685800"/>
            <a:chOff x="0" y="0"/>
            <a:chExt cx="9144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538460" y="5415915"/>
            <a:ext cx="60807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Narrow, reversible fixes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Sandboxed and hash-verified; avoids retries and rollbacks.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71600" y="7406640"/>
            <a:ext cx="7543800" cy="1988820"/>
            <a:chOff x="0" y="0"/>
            <a:chExt cx="10058400" cy="26517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7680960"/>
            <a:ext cx="685800" cy="685800"/>
            <a:chOff x="0" y="0"/>
            <a:chExt cx="91440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583180" y="7610475"/>
            <a:ext cx="60807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Cached parsing, one pipeline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Unchanged code is not re-parsed; all agents share one loop.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326880" y="7406640"/>
            <a:ext cx="7543800" cy="1988820"/>
            <a:chOff x="0" y="0"/>
            <a:chExt cx="10058400" cy="26517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58400" cy="2651760"/>
            </a:xfrm>
            <a:custGeom>
              <a:avLst/>
              <a:gdLst/>
              <a:ahLst/>
              <a:cxnLst/>
              <a:rect l="l" t="t" r="r" b="b"/>
              <a:pathLst>
                <a:path w="10058400" h="2651760">
                  <a:moveTo>
                    <a:pt x="0" y="318262"/>
                  </a:moveTo>
                  <a:cubicBezTo>
                    <a:pt x="0" y="142494"/>
                    <a:pt x="142494" y="0"/>
                    <a:pt x="318262" y="0"/>
                  </a:cubicBezTo>
                  <a:lnTo>
                    <a:pt x="9740138" y="0"/>
                  </a:lnTo>
                  <a:cubicBezTo>
                    <a:pt x="9915906" y="0"/>
                    <a:pt x="10058400" y="142494"/>
                    <a:pt x="10058400" y="318262"/>
                  </a:cubicBezTo>
                  <a:lnTo>
                    <a:pt x="10058400" y="2333498"/>
                  </a:lnTo>
                  <a:cubicBezTo>
                    <a:pt x="10058400" y="2509266"/>
                    <a:pt x="9915906" y="2651760"/>
                    <a:pt x="9740138" y="2651760"/>
                  </a:cubicBezTo>
                  <a:lnTo>
                    <a:pt x="318262" y="2651760"/>
                  </a:lnTo>
                  <a:cubicBezTo>
                    <a:pt x="142494" y="2651760"/>
                    <a:pt x="0" y="2509266"/>
                    <a:pt x="0" y="2333498"/>
                  </a:cubicBezTo>
                  <a:close/>
                </a:path>
              </a:pathLst>
            </a:custGeom>
            <a:solidFill>
              <a:srgbClr val="ECE6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01200" y="7680960"/>
            <a:ext cx="685800" cy="685800"/>
            <a:chOff x="0" y="0"/>
            <a:chExt cx="9144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7D9AD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1B1B2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6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538460" y="7610475"/>
            <a:ext cx="608076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3A1F82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Self-accounting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1B2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Tokens, tool calls and retries are subtracted from savings.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1524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5" r="-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219200" y="476250"/>
            <a:ext cx="588645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4F4F2"/>
                </a:solidFill>
                <a:latin typeface="Arimo Bold"/>
                <a:ea typeface="Arimo Bold"/>
                <a:cs typeface="Arimo Bold"/>
                <a:sym typeface="Arimo Bold"/>
              </a:rPr>
              <a:t>Fluidic Intelligence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1390650"/>
            <a:ext cx="1632508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1">
                <a:solidFill>
                  <a:srgbClr val="F4F4F2"/>
                </a:solidFill>
                <a:latin typeface="Arimo Bold"/>
                <a:ea typeface="Arimo Bold"/>
                <a:cs typeface="Arimo Bold"/>
                <a:sym typeface="Arimo Bold"/>
              </a:rPr>
              <a:t>Future Roadmap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19200" y="2412901"/>
            <a:ext cx="5202131" cy="4533338"/>
            <a:chOff x="0" y="0"/>
            <a:chExt cx="6773228" cy="59024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73164" cy="5902453"/>
            </a:xfrm>
            <a:custGeom>
              <a:avLst/>
              <a:gdLst/>
              <a:ahLst/>
              <a:cxnLst/>
              <a:rect l="l" t="t" r="r" b="b"/>
              <a:pathLst>
                <a:path w="6773164" h="5902453">
                  <a:moveTo>
                    <a:pt x="0" y="187378"/>
                  </a:moveTo>
                  <a:cubicBezTo>
                    <a:pt x="0" y="83855"/>
                    <a:pt x="88265" y="0"/>
                    <a:pt x="197231" y="0"/>
                  </a:cubicBezTo>
                  <a:lnTo>
                    <a:pt x="6575933" y="0"/>
                  </a:lnTo>
                  <a:cubicBezTo>
                    <a:pt x="6684899" y="0"/>
                    <a:pt x="6773164" y="83855"/>
                    <a:pt x="6773164" y="187378"/>
                  </a:cubicBezTo>
                  <a:lnTo>
                    <a:pt x="6773164" y="5715075"/>
                  </a:lnTo>
                  <a:cubicBezTo>
                    <a:pt x="6773164" y="5818597"/>
                    <a:pt x="6684899" y="5902453"/>
                    <a:pt x="6575933" y="5902453"/>
                  </a:cubicBezTo>
                  <a:lnTo>
                    <a:pt x="197231" y="5902453"/>
                  </a:lnTo>
                  <a:cubicBezTo>
                    <a:pt x="88265" y="5902453"/>
                    <a:pt x="0" y="5818597"/>
                    <a:pt x="0" y="5715075"/>
                  </a:cubicBezTo>
                  <a:close/>
                </a:path>
              </a:pathLst>
            </a:custGeom>
            <a:solidFill>
              <a:srgbClr val="1D1840"/>
            </a:solidFill>
            <a:ln w="9525" cap="sq">
              <a:solidFill>
                <a:srgbClr val="2A2D3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76832" y="2684145"/>
            <a:ext cx="443176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3EE8B5"/>
                </a:solidFill>
                <a:latin typeface="Arimo Bold"/>
                <a:ea typeface="Arimo Bold"/>
                <a:cs typeface="Arimo Bold"/>
                <a:sym typeface="Arimo Bold"/>
              </a:rPr>
              <a:t>Current Prototype (Build &amp; Validate)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34185" y="3516630"/>
            <a:ext cx="4664935" cy="252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Core agent engine, ledger, and measurement complete.   </a:t>
            </a:r>
          </a:p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Non-intrusive advisory mode: Delivers evidenced recommendations, simulated savings, and records approvals in the ledger without mutating live infrastructure.   </a:t>
            </a:r>
          </a:p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Validated on monorepo fixtures across code and cloud workloads.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603921" y="2412901"/>
            <a:ext cx="5080035" cy="4533338"/>
            <a:chOff x="0" y="0"/>
            <a:chExt cx="6773380" cy="60444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3418" cy="6044452"/>
            </a:xfrm>
            <a:custGeom>
              <a:avLst/>
              <a:gdLst/>
              <a:ahLst/>
              <a:cxnLst/>
              <a:rect l="l" t="t" r="r" b="b"/>
              <a:pathLst>
                <a:path w="6773418" h="6044452">
                  <a:moveTo>
                    <a:pt x="0" y="191885"/>
                  </a:moveTo>
                  <a:cubicBezTo>
                    <a:pt x="0" y="85873"/>
                    <a:pt x="88265" y="0"/>
                    <a:pt x="197231" y="0"/>
                  </a:cubicBezTo>
                  <a:lnTo>
                    <a:pt x="6576187" y="0"/>
                  </a:lnTo>
                  <a:cubicBezTo>
                    <a:pt x="6685153" y="0"/>
                    <a:pt x="6773418" y="85873"/>
                    <a:pt x="6773418" y="191885"/>
                  </a:cubicBezTo>
                  <a:lnTo>
                    <a:pt x="6773418" y="5852566"/>
                  </a:lnTo>
                  <a:cubicBezTo>
                    <a:pt x="6773418" y="5958579"/>
                    <a:pt x="6685153" y="6044452"/>
                    <a:pt x="6576187" y="6044452"/>
                  </a:cubicBezTo>
                  <a:lnTo>
                    <a:pt x="197231" y="6044452"/>
                  </a:lnTo>
                  <a:cubicBezTo>
                    <a:pt x="88265" y="6044452"/>
                    <a:pt x="0" y="5958579"/>
                    <a:pt x="0" y="5852566"/>
                  </a:cubicBezTo>
                  <a:close/>
                </a:path>
              </a:pathLst>
            </a:custGeom>
            <a:solidFill>
              <a:srgbClr val="1D1840"/>
            </a:solidFill>
            <a:ln w="9525" cap="sq">
              <a:solidFill>
                <a:srgbClr val="2A2D3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927994" y="2684145"/>
            <a:ext cx="4431887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3EE8B5"/>
                </a:solidFill>
                <a:latin typeface="Arimo Bold"/>
                <a:ea typeface="Arimo Bold"/>
                <a:cs typeface="Arimo Bold"/>
                <a:sym typeface="Arimo Bold"/>
              </a:rPr>
              <a:t>3 to 6 months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92541" y="3573780"/>
            <a:ext cx="2032992" cy="29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000">
                <a:solidFill>
                  <a:srgbClr val="F4F4F2"/>
                </a:solidFill>
                <a:latin typeface="Arimo"/>
                <a:ea typeface="Arimo"/>
                <a:cs typeface="Arimo"/>
                <a:sym typeface="Arimo"/>
              </a:rPr>
              <a:t>Integrate and pilot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05650" y="4136390"/>
            <a:ext cx="4274534" cy="189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GitHub App integration, PR review checks, and MCP server expansion.   </a:t>
            </a:r>
          </a:p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Pilot semi-automated branch PR merges for low-risk code fixes.  </a:t>
            </a:r>
          </a:p>
          <a:p>
            <a:pPr marL="325756" lvl="1" indent="-162878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Staging environment testing for automated deployment rollbacks.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120558" y="2412901"/>
            <a:ext cx="5080035" cy="4506379"/>
            <a:chOff x="0" y="0"/>
            <a:chExt cx="6773380" cy="60085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73418" cy="6008505"/>
            </a:xfrm>
            <a:custGeom>
              <a:avLst/>
              <a:gdLst/>
              <a:ahLst/>
              <a:cxnLst/>
              <a:rect l="l" t="t" r="r" b="b"/>
              <a:pathLst>
                <a:path w="6773418" h="6008505">
                  <a:moveTo>
                    <a:pt x="0" y="190744"/>
                  </a:moveTo>
                  <a:cubicBezTo>
                    <a:pt x="0" y="85362"/>
                    <a:pt x="88265" y="0"/>
                    <a:pt x="197231" y="0"/>
                  </a:cubicBezTo>
                  <a:lnTo>
                    <a:pt x="6576187" y="0"/>
                  </a:lnTo>
                  <a:cubicBezTo>
                    <a:pt x="6685153" y="0"/>
                    <a:pt x="6773418" y="85362"/>
                    <a:pt x="6773418" y="190744"/>
                  </a:cubicBezTo>
                  <a:lnTo>
                    <a:pt x="6773418" y="5817761"/>
                  </a:lnTo>
                  <a:cubicBezTo>
                    <a:pt x="6773418" y="5923143"/>
                    <a:pt x="6685153" y="6008505"/>
                    <a:pt x="6576187" y="6008505"/>
                  </a:cubicBezTo>
                  <a:lnTo>
                    <a:pt x="197231" y="6008505"/>
                  </a:lnTo>
                  <a:cubicBezTo>
                    <a:pt x="88265" y="6008505"/>
                    <a:pt x="0" y="5923143"/>
                    <a:pt x="0" y="5817761"/>
                  </a:cubicBezTo>
                  <a:close/>
                </a:path>
              </a:pathLst>
            </a:custGeom>
            <a:solidFill>
              <a:srgbClr val="1D1840"/>
            </a:solidFill>
            <a:ln w="9525" cap="sq">
              <a:solidFill>
                <a:srgbClr val="2A2D3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255456" y="2662238"/>
            <a:ext cx="443188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3EE8B5"/>
                </a:solidFill>
                <a:latin typeface="Arimo Bold"/>
                <a:ea typeface="Arimo Bold"/>
                <a:cs typeface="Arimo Bold"/>
                <a:sym typeface="Arimo Bold"/>
              </a:rPr>
              <a:t>6 to 12 months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79281" y="3143250"/>
            <a:ext cx="4261357" cy="308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5"/>
              </a:lnSpc>
            </a:pPr>
            <a:r>
              <a:rPr lang="en-US" sz="2048">
                <a:solidFill>
                  <a:srgbClr val="F4F4F2"/>
                </a:solidFill>
                <a:latin typeface="Arimo"/>
                <a:ea typeface="Arimo"/>
                <a:cs typeface="Arimo"/>
                <a:sym typeface="Arimo"/>
              </a:rPr>
              <a:t>Production &amp; Infrastructure Mutation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93581" y="3641090"/>
            <a:ext cx="4274534" cy="295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659" lvl="1" indent="-153830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Direct Infrastructure Mutation: Move from advisory recommendations to applying approved changes directly to cloud and Kubernetes infrastructure (pod scaling, disk/PVC cleanup).   </a:t>
            </a:r>
          </a:p>
          <a:p>
            <a:pPr marL="307659" lvl="1" indent="-153830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Automated post-mutation health verification with instant rollback on SLA breaches.  </a:t>
            </a:r>
          </a:p>
          <a:p>
            <a:pPr marL="307659" lvl="1" indent="-153830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B9BCC4"/>
                </a:solidFill>
                <a:latin typeface="Arimo"/>
                <a:ea typeface="Arimo"/>
                <a:cs typeface="Arimo"/>
                <a:sym typeface="Arimo"/>
              </a:rPr>
              <a:t> Enterprise multi-cloud deployment and certified SCI compliance reporting.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1210</Words>
  <Application>Microsoft Office PowerPoint</Application>
  <PresentationFormat>Custom</PresentationFormat>
  <Paragraphs>246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Times New Roman MT Bold</vt:lpstr>
      <vt:lpstr>Arimo Bold</vt:lpstr>
      <vt:lpstr>Times New Roman MT Medium</vt:lpstr>
      <vt:lpstr>Arial</vt:lpstr>
      <vt:lpstr>Times New Roman MT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Fluidic Intelligence Corporate Deck.pptx</dc:title>
  <cp:lastModifiedBy>Shieren Khan</cp:lastModifiedBy>
  <cp:revision>1</cp:revision>
  <dcterms:created xsi:type="dcterms:W3CDTF">2006-08-16T00:00:00Z</dcterms:created>
  <dcterms:modified xsi:type="dcterms:W3CDTF">2026-10-06T18:08:45Z</dcterms:modified>
  <dc:identifier>DAHXPtO45Mw</dc:identifier>
</cp:coreProperties>
</file>